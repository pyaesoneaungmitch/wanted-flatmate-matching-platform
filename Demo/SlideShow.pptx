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256" r:id="rId2"/>
    <p:sldId id="261" r:id="rId3"/>
    <p:sldId id="283" r:id="rId4"/>
    <p:sldId id="284" r:id="rId5"/>
    <p:sldId id="285" r:id="rId6"/>
    <p:sldId id="287" r:id="rId7"/>
    <p:sldId id="293" r:id="rId8"/>
    <p:sldId id="294" r:id="rId9"/>
    <p:sldId id="301" r:id="rId10"/>
    <p:sldId id="302" r:id="rId11"/>
    <p:sldId id="300" r:id="rId12"/>
    <p:sldId id="303" r:id="rId13"/>
    <p:sldId id="295" r:id="rId14"/>
    <p:sldId id="296" r:id="rId15"/>
    <p:sldId id="298" r:id="rId16"/>
    <p:sldId id="304" r:id="rId17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9"/>
    </p:embeddedFont>
    <p:embeddedFont>
      <p:font typeface="BBH Bartle" panose="020B0604020202020204" charset="0"/>
      <p:regular r:id="rId20"/>
    </p:embeddedFont>
    <p:embeddedFont>
      <p:font typeface="Nunito Light" pitchFamily="2" charset="0"/>
      <p:regular r:id="rId21"/>
      <p:italic r:id="rId22"/>
    </p:embeddedFont>
    <p:embeddedFont>
      <p:font typeface="PT Sans" panose="020B0503020203020204" pitchFamily="34" charset="0"/>
      <p:regular r:id="rId23"/>
      <p:bold r:id="rId24"/>
      <p:italic r:id="rId25"/>
      <p:boldItalic r:id="rId26"/>
    </p:embeddedFont>
    <p:embeddedFont>
      <p:font typeface="Raleway" pitchFamily="2" charset="0"/>
      <p:regular r:id="rId27"/>
      <p:bold r:id="rId28"/>
      <p:italic r:id="rId29"/>
      <p:boldItalic r:id="rId30"/>
    </p:embeddedFont>
    <p:embeddedFont>
      <p:font typeface="Segoe UI" panose="020B0502040204020203" pitchFamily="34" charset="0"/>
      <p:regular r:id="rId31"/>
      <p:bold r:id="rId32"/>
      <p:italic r:id="rId33"/>
      <p:boldItalic r:id="rId34"/>
    </p:embeddedFont>
    <p:embeddedFont>
      <p:font typeface="Space Mono" panose="020B060402020202020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500"/>
    <a:srgbClr val="FFF6B8"/>
    <a:srgbClr val="86EFAC"/>
    <a:srgbClr val="F0FDF4"/>
    <a:srgbClr val="F4E630"/>
    <a:srgbClr val="FFFFFF"/>
    <a:srgbClr val="758CFF"/>
    <a:srgbClr val="D9DFFF"/>
    <a:srgbClr val="FAF4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382A9D1-2818-49D0-B105-3806FDFD11B4}">
  <a:tblStyle styleId="{5382A9D1-2818-49D0-B105-3806FDFD11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552" autoAdjust="0"/>
  </p:normalViewPr>
  <p:slideViewPr>
    <p:cSldViewPr snapToGrid="0">
      <p:cViewPr varScale="1">
        <p:scale>
          <a:sx n="101" d="100"/>
          <a:sy n="101" d="100"/>
        </p:scale>
        <p:origin x="850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54dda1946d_4_2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54dda1946d_4_27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>
          <a:extLst>
            <a:ext uri="{FF2B5EF4-FFF2-40B4-BE49-F238E27FC236}">
              <a16:creationId xmlns:a16="http://schemas.microsoft.com/office/drawing/2014/main" id="{3624BCB1-837C-40AB-A670-B597E7288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54dda1946d_4_2758:notes">
            <a:extLst>
              <a:ext uri="{FF2B5EF4-FFF2-40B4-BE49-F238E27FC236}">
                <a16:creationId xmlns:a16="http://schemas.microsoft.com/office/drawing/2014/main" id="{4ADA3887-4350-EC44-3900-A435B414FF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54dda1946d_4_2758:notes">
            <a:extLst>
              <a:ext uri="{FF2B5EF4-FFF2-40B4-BE49-F238E27FC236}">
                <a16:creationId xmlns:a16="http://schemas.microsoft.com/office/drawing/2014/main" id="{5CD197B7-AA4A-8CED-805E-E2F66E6059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2226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>
          <a:extLst>
            <a:ext uri="{FF2B5EF4-FFF2-40B4-BE49-F238E27FC236}">
              <a16:creationId xmlns:a16="http://schemas.microsoft.com/office/drawing/2014/main" id="{F61A61CE-CF4E-BA3A-18C0-1035399D8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54dda1946d_4_2758:notes">
            <a:extLst>
              <a:ext uri="{FF2B5EF4-FFF2-40B4-BE49-F238E27FC236}">
                <a16:creationId xmlns:a16="http://schemas.microsoft.com/office/drawing/2014/main" id="{4ACC7D5F-CC1C-FB08-DE87-650C87DD6F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54dda1946d_4_2758:notes">
            <a:extLst>
              <a:ext uri="{FF2B5EF4-FFF2-40B4-BE49-F238E27FC236}">
                <a16:creationId xmlns:a16="http://schemas.microsoft.com/office/drawing/2014/main" id="{273C6D72-8B29-AF15-5140-3FD096090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9946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>
          <a:extLst>
            <a:ext uri="{FF2B5EF4-FFF2-40B4-BE49-F238E27FC236}">
              <a16:creationId xmlns:a16="http://schemas.microsoft.com/office/drawing/2014/main" id="{F9B044FE-E8BD-90EB-E1E4-4D3629D73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54dda1946d_4_2758:notes">
            <a:extLst>
              <a:ext uri="{FF2B5EF4-FFF2-40B4-BE49-F238E27FC236}">
                <a16:creationId xmlns:a16="http://schemas.microsoft.com/office/drawing/2014/main" id="{DB03C79B-0201-0430-2C01-5FF29F1E10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54dda1946d_4_2758:notes">
            <a:extLst>
              <a:ext uri="{FF2B5EF4-FFF2-40B4-BE49-F238E27FC236}">
                <a16:creationId xmlns:a16="http://schemas.microsoft.com/office/drawing/2014/main" id="{2EAAA035-A56A-48DC-A5EF-0D0AF78D2E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6029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>
          <a:extLst>
            <a:ext uri="{FF2B5EF4-FFF2-40B4-BE49-F238E27FC236}">
              <a16:creationId xmlns:a16="http://schemas.microsoft.com/office/drawing/2014/main" id="{EB6FB992-69F8-8F67-A11A-14CE13421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54dda1946d_4_2758:notes">
            <a:extLst>
              <a:ext uri="{FF2B5EF4-FFF2-40B4-BE49-F238E27FC236}">
                <a16:creationId xmlns:a16="http://schemas.microsoft.com/office/drawing/2014/main" id="{AE3A59B6-A838-5C6E-F4F5-2424C53C39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54dda1946d_4_2758:notes">
            <a:extLst>
              <a:ext uri="{FF2B5EF4-FFF2-40B4-BE49-F238E27FC236}">
                <a16:creationId xmlns:a16="http://schemas.microsoft.com/office/drawing/2014/main" id="{E0E0B4C7-22DA-6E17-E073-9CC42ED4A9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8863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>
          <a:extLst>
            <a:ext uri="{FF2B5EF4-FFF2-40B4-BE49-F238E27FC236}">
              <a16:creationId xmlns:a16="http://schemas.microsoft.com/office/drawing/2014/main" id="{206F2B70-59D8-9871-EC76-8BC295189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54dda1946d_4_2758:notes">
            <a:extLst>
              <a:ext uri="{FF2B5EF4-FFF2-40B4-BE49-F238E27FC236}">
                <a16:creationId xmlns:a16="http://schemas.microsoft.com/office/drawing/2014/main" id="{BFCDBA39-E381-5706-44E2-C2043E73E0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54dda1946d_4_2758:notes">
            <a:extLst>
              <a:ext uri="{FF2B5EF4-FFF2-40B4-BE49-F238E27FC236}">
                <a16:creationId xmlns:a16="http://schemas.microsoft.com/office/drawing/2014/main" id="{A159F41E-658C-F1BE-AAAD-856A4330D9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42359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>
          <a:extLst>
            <a:ext uri="{FF2B5EF4-FFF2-40B4-BE49-F238E27FC236}">
              <a16:creationId xmlns:a16="http://schemas.microsoft.com/office/drawing/2014/main" id="{2C1CBA00-EE25-26D2-A7E0-7D984FBC0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54dda1946d_4_2758:notes">
            <a:extLst>
              <a:ext uri="{FF2B5EF4-FFF2-40B4-BE49-F238E27FC236}">
                <a16:creationId xmlns:a16="http://schemas.microsoft.com/office/drawing/2014/main" id="{77214D3F-4B25-C187-21B3-2E7502D039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54dda1946d_4_2758:notes">
            <a:extLst>
              <a:ext uri="{FF2B5EF4-FFF2-40B4-BE49-F238E27FC236}">
                <a16:creationId xmlns:a16="http://schemas.microsoft.com/office/drawing/2014/main" id="{1A42364E-8A5C-1EC1-20AD-5B78209D4D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08341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>
          <a:extLst>
            <a:ext uri="{FF2B5EF4-FFF2-40B4-BE49-F238E27FC236}">
              <a16:creationId xmlns:a16="http://schemas.microsoft.com/office/drawing/2014/main" id="{AC43F9BA-C9B0-B3A4-CD3F-DE1802A77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54dda1946d_4_2758:notes">
            <a:extLst>
              <a:ext uri="{FF2B5EF4-FFF2-40B4-BE49-F238E27FC236}">
                <a16:creationId xmlns:a16="http://schemas.microsoft.com/office/drawing/2014/main" id="{09AC76D1-57AA-8518-5282-31D44C991F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54dda1946d_4_2758:notes">
            <a:extLst>
              <a:ext uri="{FF2B5EF4-FFF2-40B4-BE49-F238E27FC236}">
                <a16:creationId xmlns:a16="http://schemas.microsoft.com/office/drawing/2014/main" id="{46433934-B0B4-EEBB-780A-E575E7DD6A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60224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>
          <a:extLst>
            <a:ext uri="{FF2B5EF4-FFF2-40B4-BE49-F238E27FC236}">
              <a16:creationId xmlns:a16="http://schemas.microsoft.com/office/drawing/2014/main" id="{31F5B05E-5E0B-833C-6526-4D58AC9EA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54dda1946d_4_2758:notes">
            <a:extLst>
              <a:ext uri="{FF2B5EF4-FFF2-40B4-BE49-F238E27FC236}">
                <a16:creationId xmlns:a16="http://schemas.microsoft.com/office/drawing/2014/main" id="{C6EA4E90-5595-7DAA-193E-557BAAFF7E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54dda1946d_4_2758:notes">
            <a:extLst>
              <a:ext uri="{FF2B5EF4-FFF2-40B4-BE49-F238E27FC236}">
                <a16:creationId xmlns:a16="http://schemas.microsoft.com/office/drawing/2014/main" id="{A9891498-2576-2EA7-B445-D17BBB00E9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74533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>
          <a:extLst>
            <a:ext uri="{FF2B5EF4-FFF2-40B4-BE49-F238E27FC236}">
              <a16:creationId xmlns:a16="http://schemas.microsoft.com/office/drawing/2014/main" id="{6B229095-F28A-9582-873B-73D6D20BD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54dda1946d_4_2758:notes">
            <a:extLst>
              <a:ext uri="{FF2B5EF4-FFF2-40B4-BE49-F238E27FC236}">
                <a16:creationId xmlns:a16="http://schemas.microsoft.com/office/drawing/2014/main" id="{1DDFB076-AC8E-E176-9F7C-0F4B08A6DD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54dda1946d_4_2758:notes">
            <a:extLst>
              <a:ext uri="{FF2B5EF4-FFF2-40B4-BE49-F238E27FC236}">
                <a16:creationId xmlns:a16="http://schemas.microsoft.com/office/drawing/2014/main" id="{1E9F8EB1-122D-8EC4-AC66-AC69DE70B6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26219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>
          <a:extLst>
            <a:ext uri="{FF2B5EF4-FFF2-40B4-BE49-F238E27FC236}">
              <a16:creationId xmlns:a16="http://schemas.microsoft.com/office/drawing/2014/main" id="{8D8C6438-E3B2-065D-5299-DC0A53AB4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54dda1946d_4_2758:notes">
            <a:extLst>
              <a:ext uri="{FF2B5EF4-FFF2-40B4-BE49-F238E27FC236}">
                <a16:creationId xmlns:a16="http://schemas.microsoft.com/office/drawing/2014/main" id="{2C645A91-C5FD-12CB-AEA0-E827603102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54dda1946d_4_2758:notes">
            <a:extLst>
              <a:ext uri="{FF2B5EF4-FFF2-40B4-BE49-F238E27FC236}">
                <a16:creationId xmlns:a16="http://schemas.microsoft.com/office/drawing/2014/main" id="{BA67D937-D80E-0D67-6CE6-2C36F4E7E8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3919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>
          <a:extLst>
            <a:ext uri="{FF2B5EF4-FFF2-40B4-BE49-F238E27FC236}">
              <a16:creationId xmlns:a16="http://schemas.microsoft.com/office/drawing/2014/main" id="{DCCA9263-A862-DA0C-C788-439C7D8F6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54dda1946d_4_2758:notes">
            <a:extLst>
              <a:ext uri="{FF2B5EF4-FFF2-40B4-BE49-F238E27FC236}">
                <a16:creationId xmlns:a16="http://schemas.microsoft.com/office/drawing/2014/main" id="{462F3A69-0FB1-2509-30B8-37823984AE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54dda1946d_4_2758:notes">
            <a:extLst>
              <a:ext uri="{FF2B5EF4-FFF2-40B4-BE49-F238E27FC236}">
                <a16:creationId xmlns:a16="http://schemas.microsoft.com/office/drawing/2014/main" id="{6CB1AB3C-B8B9-D58C-D9AB-BA7CD26021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52017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>
          <a:extLst>
            <a:ext uri="{FF2B5EF4-FFF2-40B4-BE49-F238E27FC236}">
              <a16:creationId xmlns:a16="http://schemas.microsoft.com/office/drawing/2014/main" id="{CF9811F7-B250-D2FC-C629-883C4C8D9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54dda1946d_4_2758:notes">
            <a:extLst>
              <a:ext uri="{FF2B5EF4-FFF2-40B4-BE49-F238E27FC236}">
                <a16:creationId xmlns:a16="http://schemas.microsoft.com/office/drawing/2014/main" id="{D3FC1820-3ADA-DD73-AB5E-D7087339D8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54dda1946d_4_2758:notes">
            <a:extLst>
              <a:ext uri="{FF2B5EF4-FFF2-40B4-BE49-F238E27FC236}">
                <a16:creationId xmlns:a16="http://schemas.microsoft.com/office/drawing/2014/main" id="{DC9D0790-8AFD-BAF1-62C5-B67F6066A9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35001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>
          <a:extLst>
            <a:ext uri="{FF2B5EF4-FFF2-40B4-BE49-F238E27FC236}">
              <a16:creationId xmlns:a16="http://schemas.microsoft.com/office/drawing/2014/main" id="{F2BD0151-5C4A-21B5-0C98-6B78F1D7A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54dda1946d_4_2758:notes">
            <a:extLst>
              <a:ext uri="{FF2B5EF4-FFF2-40B4-BE49-F238E27FC236}">
                <a16:creationId xmlns:a16="http://schemas.microsoft.com/office/drawing/2014/main" id="{6296BDFA-49D3-CC6F-96B3-ACD557D01C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54dda1946d_4_2758:notes">
            <a:extLst>
              <a:ext uri="{FF2B5EF4-FFF2-40B4-BE49-F238E27FC236}">
                <a16:creationId xmlns:a16="http://schemas.microsoft.com/office/drawing/2014/main" id="{6BBDADF4-057A-C0F5-FAA9-716B1BEA98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5130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28600" y="228600"/>
            <a:ext cx="4506900" cy="266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28735" y="4282875"/>
            <a:ext cx="4506900" cy="63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5301450" y="0"/>
            <a:ext cx="38424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>
            <a:off x="4948001" y="2574147"/>
            <a:ext cx="26823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2"/>
          </p:nvPr>
        </p:nvSpPr>
        <p:spPr>
          <a:xfrm>
            <a:off x="1514000" y="2574147"/>
            <a:ext cx="26823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3"/>
          </p:nvPr>
        </p:nvSpPr>
        <p:spPr>
          <a:xfrm>
            <a:off x="1514000" y="1659200"/>
            <a:ext cx="2682300" cy="7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4"/>
          </p:nvPr>
        </p:nvSpPr>
        <p:spPr>
          <a:xfrm>
            <a:off x="4948002" y="1659200"/>
            <a:ext cx="2682300" cy="7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811975" y="878850"/>
            <a:ext cx="3637200" cy="102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ubTitle" idx="1"/>
          </p:nvPr>
        </p:nvSpPr>
        <p:spPr>
          <a:xfrm>
            <a:off x="811975" y="1966350"/>
            <a:ext cx="4294800" cy="24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30" name="Google Shape;30;p7"/>
          <p:cNvSpPr>
            <a:spLocks noGrp="1"/>
          </p:cNvSpPr>
          <p:nvPr>
            <p:ph type="pic" idx="2"/>
          </p:nvPr>
        </p:nvSpPr>
        <p:spPr>
          <a:xfrm>
            <a:off x="5643775" y="539500"/>
            <a:ext cx="2787000" cy="4064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1948800" y="4014450"/>
            <a:ext cx="5246400" cy="441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340875"/>
            <a:ext cx="6576000" cy="162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1" name="Google Shape;41;p11"/>
          <p:cNvSpPr txBox="1">
            <a:spLocks noGrp="1"/>
          </p:cNvSpPr>
          <p:nvPr>
            <p:ph type="subTitle" idx="1"/>
          </p:nvPr>
        </p:nvSpPr>
        <p:spPr>
          <a:xfrm>
            <a:off x="1284000" y="3101850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331600" cy="9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ubTitle" idx="1"/>
          </p:nvPr>
        </p:nvSpPr>
        <p:spPr>
          <a:xfrm>
            <a:off x="228600" y="2849175"/>
            <a:ext cx="8076600" cy="207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subTitle" idx="1"/>
          </p:nvPr>
        </p:nvSpPr>
        <p:spPr>
          <a:xfrm>
            <a:off x="719850" y="2473626"/>
            <a:ext cx="2330700" cy="20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ubTitle" idx="2"/>
          </p:nvPr>
        </p:nvSpPr>
        <p:spPr>
          <a:xfrm>
            <a:off x="3406582" y="2473626"/>
            <a:ext cx="2330700" cy="20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ubTitle" idx="3"/>
          </p:nvPr>
        </p:nvSpPr>
        <p:spPr>
          <a:xfrm>
            <a:off x="6093296" y="2473626"/>
            <a:ext cx="2330700" cy="20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ubTitle" idx="4"/>
          </p:nvPr>
        </p:nvSpPr>
        <p:spPr>
          <a:xfrm>
            <a:off x="719850" y="1626000"/>
            <a:ext cx="2330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ubTitle" idx="5"/>
          </p:nvPr>
        </p:nvSpPr>
        <p:spPr>
          <a:xfrm>
            <a:off x="3406585" y="1626000"/>
            <a:ext cx="2330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subTitle" idx="6"/>
          </p:nvPr>
        </p:nvSpPr>
        <p:spPr>
          <a:xfrm>
            <a:off x="6093296" y="1626000"/>
            <a:ext cx="2330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 hasCustomPrompt="1"/>
          </p:nvPr>
        </p:nvSpPr>
        <p:spPr>
          <a:xfrm>
            <a:off x="713225" y="2672181"/>
            <a:ext cx="23415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" name="Google Shape;98;p19"/>
          <p:cNvSpPr txBox="1">
            <a:spLocks noGrp="1"/>
          </p:cNvSpPr>
          <p:nvPr>
            <p:ph type="subTitle" idx="1"/>
          </p:nvPr>
        </p:nvSpPr>
        <p:spPr>
          <a:xfrm>
            <a:off x="713225" y="3583500"/>
            <a:ext cx="23415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title" idx="2" hasCustomPrompt="1"/>
          </p:nvPr>
        </p:nvSpPr>
        <p:spPr>
          <a:xfrm>
            <a:off x="3401250" y="2672175"/>
            <a:ext cx="23415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0" name="Google Shape;100;p19"/>
          <p:cNvSpPr txBox="1">
            <a:spLocks noGrp="1"/>
          </p:cNvSpPr>
          <p:nvPr>
            <p:ph type="subTitle" idx="3"/>
          </p:nvPr>
        </p:nvSpPr>
        <p:spPr>
          <a:xfrm>
            <a:off x="3401250" y="3583484"/>
            <a:ext cx="23415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title" idx="4" hasCustomPrompt="1"/>
          </p:nvPr>
        </p:nvSpPr>
        <p:spPr>
          <a:xfrm>
            <a:off x="6089276" y="2672181"/>
            <a:ext cx="23415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2" name="Google Shape;102;p19"/>
          <p:cNvSpPr txBox="1">
            <a:spLocks noGrp="1"/>
          </p:cNvSpPr>
          <p:nvPr>
            <p:ph type="subTitle" idx="5"/>
          </p:nvPr>
        </p:nvSpPr>
        <p:spPr>
          <a:xfrm>
            <a:off x="6089276" y="3583500"/>
            <a:ext cx="23415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title" idx="6" hasCustomPrompt="1"/>
          </p:nvPr>
        </p:nvSpPr>
        <p:spPr>
          <a:xfrm>
            <a:off x="1945875" y="637625"/>
            <a:ext cx="5252100" cy="1073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" name="Google Shape;104;p19"/>
          <p:cNvSpPr txBox="1">
            <a:spLocks noGrp="1"/>
          </p:cNvSpPr>
          <p:nvPr>
            <p:ph type="subTitle" idx="7"/>
          </p:nvPr>
        </p:nvSpPr>
        <p:spPr>
          <a:xfrm>
            <a:off x="1945875" y="1852977"/>
            <a:ext cx="52521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BH Bartle"/>
              <a:buNone/>
              <a:defRPr sz="2000">
                <a:solidFill>
                  <a:schemeClr val="dk1"/>
                </a:solidFill>
                <a:latin typeface="BBH Bartle"/>
                <a:ea typeface="BBH Bartle"/>
                <a:cs typeface="BBH Bartle"/>
                <a:sym typeface="BBH Bart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BH Bartle"/>
              <a:buNone/>
              <a:defRPr sz="2000">
                <a:solidFill>
                  <a:schemeClr val="dk1"/>
                </a:solidFill>
                <a:latin typeface="BBH Bartle"/>
                <a:ea typeface="BBH Bartle"/>
                <a:cs typeface="BBH Bartle"/>
                <a:sym typeface="BBH Bart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BH Bartle"/>
              <a:buNone/>
              <a:defRPr sz="2000">
                <a:solidFill>
                  <a:schemeClr val="dk1"/>
                </a:solidFill>
                <a:latin typeface="BBH Bartle"/>
                <a:ea typeface="BBH Bartle"/>
                <a:cs typeface="BBH Bartle"/>
                <a:sym typeface="BBH Bart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BH Bartle"/>
              <a:buNone/>
              <a:defRPr sz="2000">
                <a:solidFill>
                  <a:schemeClr val="dk1"/>
                </a:solidFill>
                <a:latin typeface="BBH Bartle"/>
                <a:ea typeface="BBH Bartle"/>
                <a:cs typeface="BBH Bartle"/>
                <a:sym typeface="BBH Bart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BH Bartle"/>
              <a:buNone/>
              <a:defRPr sz="2000">
                <a:solidFill>
                  <a:schemeClr val="dk1"/>
                </a:solidFill>
                <a:latin typeface="BBH Bartle"/>
                <a:ea typeface="BBH Bartle"/>
                <a:cs typeface="BBH Bartle"/>
                <a:sym typeface="BBH Bart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BH Bartle"/>
              <a:buNone/>
              <a:defRPr sz="2000">
                <a:solidFill>
                  <a:schemeClr val="dk1"/>
                </a:solidFill>
                <a:latin typeface="BBH Bartle"/>
                <a:ea typeface="BBH Bartle"/>
                <a:cs typeface="BBH Bartle"/>
                <a:sym typeface="BBH Bart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BH Bartle"/>
              <a:buNone/>
              <a:defRPr sz="2000">
                <a:solidFill>
                  <a:schemeClr val="dk1"/>
                </a:solidFill>
                <a:latin typeface="BBH Bartle"/>
                <a:ea typeface="BBH Bartle"/>
                <a:cs typeface="BBH Bartle"/>
                <a:sym typeface="BBH Bart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BH Bartle"/>
              <a:buNone/>
              <a:defRPr sz="2000">
                <a:solidFill>
                  <a:schemeClr val="dk1"/>
                </a:solidFill>
                <a:latin typeface="BBH Bartle"/>
                <a:ea typeface="BBH Bartle"/>
                <a:cs typeface="BBH Bartle"/>
                <a:sym typeface="BBH Bart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BH Bartle"/>
              <a:buNone/>
              <a:defRPr sz="2000">
                <a:solidFill>
                  <a:schemeClr val="dk1"/>
                </a:solidFill>
                <a:latin typeface="BBH Bartle"/>
                <a:ea typeface="BBH Bartle"/>
                <a:cs typeface="BBH Bartle"/>
                <a:sym typeface="BBH Bartl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Mono"/>
              <a:buChar char="●"/>
              <a:defRPr sz="12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Mono"/>
              <a:buChar char="○"/>
              <a:defRPr sz="12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Mono"/>
              <a:buChar char="■"/>
              <a:defRPr sz="12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Mono"/>
              <a:buChar char="●"/>
              <a:defRPr sz="12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Mono"/>
              <a:buChar char="○"/>
              <a:defRPr sz="12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Mono"/>
              <a:buChar char="■"/>
              <a:defRPr sz="12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Mono"/>
              <a:buChar char="●"/>
              <a:defRPr sz="12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Mono"/>
              <a:buChar char="○"/>
              <a:defRPr sz="12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Mono"/>
              <a:buChar char="■"/>
              <a:defRPr sz="12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60" r:id="rId9"/>
    <p:sldLayoutId id="2147483663" r:id="rId10"/>
    <p:sldLayoutId id="2147483665" r:id="rId11"/>
    <p:sldLayoutId id="2147483667" r:id="rId12"/>
    <p:sldLayoutId id="2147483668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"/>
          <p:cNvSpPr txBox="1">
            <a:spLocks noGrp="1"/>
          </p:cNvSpPr>
          <p:nvPr>
            <p:ph type="ctrTitle"/>
          </p:nvPr>
        </p:nvSpPr>
        <p:spPr>
          <a:xfrm>
            <a:off x="228735" y="1070941"/>
            <a:ext cx="4506900" cy="15008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WAN</a:t>
            </a:r>
            <a:r>
              <a:rPr lang="en" dirty="0">
                <a:solidFill>
                  <a:srgbClr val="F4E630"/>
                </a:solidFill>
              </a:rPr>
              <a:t>TED</a:t>
            </a:r>
            <a:br>
              <a:rPr lang="en" dirty="0">
                <a:solidFill>
                  <a:srgbClr val="F4E630"/>
                </a:solidFill>
              </a:rPr>
            </a:br>
            <a:r>
              <a:rPr lang="e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AI – Powered Roommate &amp; Accomodation Finder</a:t>
            </a:r>
            <a:endParaRPr sz="1800" b="1" dirty="0">
              <a:solidFill>
                <a:srgbClr val="F4E63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9ACC5F-E88E-27ED-D59F-E5715CF78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993" y="701609"/>
            <a:ext cx="3900610" cy="28680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131FA9-4A4D-BEA0-0EA7-0C35D78BD6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406" t="20821" r="41497" b="50000"/>
          <a:stretch>
            <a:fillRect/>
          </a:stretch>
        </p:blipFill>
        <p:spPr>
          <a:xfrm>
            <a:off x="3518413" y="-14348"/>
            <a:ext cx="422916" cy="6140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97D508-F883-FCFD-48F7-95E5F2DEA9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0000" b="23478"/>
          <a:stretch>
            <a:fillRect/>
          </a:stretch>
        </p:blipFill>
        <p:spPr>
          <a:xfrm>
            <a:off x="3879264" y="65549"/>
            <a:ext cx="1712742" cy="4542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6911903-3E7B-2564-6280-74379CD4AE2C}"/>
              </a:ext>
            </a:extLst>
          </p:cNvPr>
          <p:cNvSpPr txBox="1"/>
          <p:nvPr/>
        </p:nvSpPr>
        <p:spPr>
          <a:xfrm>
            <a:off x="228735" y="2534121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Final Year Project – CHP2524</a:t>
            </a: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BSc (Hons) Applied Computing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378C40-3216-FD39-D742-F00E8BA9E766}"/>
              </a:ext>
            </a:extLst>
          </p:cNvPr>
          <p:cNvSpPr txBox="1"/>
          <p:nvPr/>
        </p:nvSpPr>
        <p:spPr>
          <a:xfrm>
            <a:off x="4572000" y="3875796"/>
            <a:ext cx="403167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b="1" i="1" dirty="0">
                <a:latin typeface="Segoe UI" panose="020B0502040204020203" pitchFamily="34" charset="0"/>
                <a:cs typeface="Segoe UI" panose="020B0502040204020203" pitchFamily="34" charset="0"/>
              </a:rPr>
              <a:t>Presented by: Pyae Sone Aung(Mitch)</a:t>
            </a:r>
          </a:p>
          <a:p>
            <a:pPr algn="r">
              <a:buNone/>
            </a:pPr>
            <a:r>
              <a:rPr lang="en-US" b="1" i="1" dirty="0">
                <a:latin typeface="Segoe UI" panose="020B0502040204020203" pitchFamily="34" charset="0"/>
                <a:cs typeface="Segoe UI" panose="020B0502040204020203" pitchFamily="34" charset="0"/>
              </a:rPr>
              <a:t>Supervisor: Dr. Gary Allen</a:t>
            </a:r>
          </a:p>
          <a:p>
            <a:pPr algn="r">
              <a:buNone/>
            </a:pPr>
            <a:r>
              <a:rPr lang="en-US" b="1" i="1" dirty="0">
                <a:latin typeface="Segoe UI" panose="020B0502040204020203" pitchFamily="34" charset="0"/>
                <a:cs typeface="Segoe UI" panose="020B0502040204020203" pitchFamily="34" charset="0"/>
              </a:rPr>
              <a:t>Date: 14</a:t>
            </a:r>
            <a:r>
              <a:rPr lang="en-US" b="1" i="1" baseline="30000" dirty="0">
                <a:latin typeface="Segoe UI" panose="020B0502040204020203" pitchFamily="34" charset="0"/>
                <a:cs typeface="Segoe UI" panose="020B0502040204020203" pitchFamily="34" charset="0"/>
              </a:rPr>
              <a:t>th</a:t>
            </a:r>
            <a:r>
              <a:rPr lang="en-US" b="1" i="1" dirty="0">
                <a:latin typeface="Segoe UI" panose="020B0502040204020203" pitchFamily="34" charset="0"/>
                <a:cs typeface="Segoe UI" panose="020B0502040204020203" pitchFamily="34" charset="0"/>
              </a:rPr>
              <a:t> May 2026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91536E-A388-62BA-1117-6027E3FD7E76}"/>
              </a:ext>
            </a:extLst>
          </p:cNvPr>
          <p:cNvSpPr txBox="1"/>
          <p:nvPr/>
        </p:nvSpPr>
        <p:spPr>
          <a:xfrm>
            <a:off x="228735" y="3891185"/>
            <a:ext cx="2867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dirty="0"/>
              <a:t>🏠 🤝  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331600" cy="5818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4E630"/>
                </a:solidFill>
                <a:highlight>
                  <a:srgbClr val="0000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1. </a:t>
            </a:r>
            <a:r>
              <a:rPr lang="e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Project Introduction</a:t>
            </a:r>
            <a:endParaRPr sz="2400" b="1" dirty="0">
              <a:solidFill>
                <a:schemeClr val="accen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2" name="Google Shape;212;p32"/>
          <p:cNvSpPr txBox="1">
            <a:spLocks noGrp="1"/>
          </p:cNvSpPr>
          <p:nvPr>
            <p:ph type="subTitle" idx="1"/>
          </p:nvPr>
        </p:nvSpPr>
        <p:spPr>
          <a:xfrm>
            <a:off x="242157" y="976744"/>
            <a:ext cx="4665518" cy="292441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Product Summary</a:t>
            </a:r>
          </a:p>
          <a:p>
            <a:pPr marL="0" lvl="0" indent="0">
              <a:buNone/>
            </a:pPr>
            <a:endParaRPr lang="en-US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buNone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A desktop-first web application that helps users:</a:t>
            </a:r>
          </a:p>
          <a:p>
            <a:pPr marL="0" lvl="0" indent="0">
              <a:buNone/>
            </a:pP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Find compatible roommates</a:t>
            </a:r>
          </a:p>
          <a:p>
            <a:pPr marL="285750" lvl="0" indent="-285750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Browse accommodation listings</a:t>
            </a:r>
          </a:p>
          <a:p>
            <a:pPr marL="285750" lvl="0" indent="-285750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Message safely inside the platform</a:t>
            </a:r>
          </a:p>
          <a:p>
            <a:pPr marL="285750" lvl="0" indent="-285750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Control what personal information they share</a:t>
            </a:r>
            <a:endParaRPr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Google Shape;144;p28">
            <a:extLst>
              <a:ext uri="{FF2B5EF4-FFF2-40B4-BE49-F238E27FC236}">
                <a16:creationId xmlns:a16="http://schemas.microsoft.com/office/drawing/2014/main" id="{BA642F7A-2E43-17C7-0FF3-5C189C23E3B0}"/>
              </a:ext>
            </a:extLst>
          </p:cNvPr>
          <p:cNvSpPr/>
          <p:nvPr/>
        </p:nvSpPr>
        <p:spPr>
          <a:xfrm>
            <a:off x="6748292" y="352637"/>
            <a:ext cx="1371900" cy="405900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rgbClr val="F4E6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LOGIN</a:t>
            </a:r>
            <a:endParaRPr sz="1100" b="1" dirty="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7" name="Graphic 6" descr="Line arrow Straight">
            <a:extLst>
              <a:ext uri="{FF2B5EF4-FFF2-40B4-BE49-F238E27FC236}">
                <a16:creationId xmlns:a16="http://schemas.microsoft.com/office/drawing/2014/main" id="{5EF0BF41-1D19-84FE-E253-842C8BDDEA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3097" b="2673"/>
          <a:stretch>
            <a:fillRect/>
          </a:stretch>
        </p:blipFill>
        <p:spPr>
          <a:xfrm rot="16200000">
            <a:off x="7325139" y="569302"/>
            <a:ext cx="218208" cy="596677"/>
          </a:xfrm>
          <a:prstGeom prst="rect">
            <a:avLst/>
          </a:prstGeom>
        </p:spPr>
      </p:pic>
      <p:sp>
        <p:nvSpPr>
          <p:cNvPr id="8" name="Google Shape;144;p28">
            <a:extLst>
              <a:ext uri="{FF2B5EF4-FFF2-40B4-BE49-F238E27FC236}">
                <a16:creationId xmlns:a16="http://schemas.microsoft.com/office/drawing/2014/main" id="{BC458DDD-8722-9D54-42DB-399D600368CD}"/>
              </a:ext>
            </a:extLst>
          </p:cNvPr>
          <p:cNvSpPr/>
          <p:nvPr/>
        </p:nvSpPr>
        <p:spPr>
          <a:xfrm>
            <a:off x="6748293" y="976744"/>
            <a:ext cx="1371900" cy="405900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rgbClr val="F4E6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Complete Quiz</a:t>
            </a:r>
            <a:endParaRPr sz="1100" b="1" dirty="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9" name="Graphic 8" descr="Line arrow Straight">
            <a:extLst>
              <a:ext uri="{FF2B5EF4-FFF2-40B4-BE49-F238E27FC236}">
                <a16:creationId xmlns:a16="http://schemas.microsoft.com/office/drawing/2014/main" id="{C3B8EA47-8537-598D-4901-A1ED8EB2B9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3097" b="2673"/>
          <a:stretch>
            <a:fillRect/>
          </a:stretch>
        </p:blipFill>
        <p:spPr>
          <a:xfrm rot="16200000">
            <a:off x="7325140" y="1193409"/>
            <a:ext cx="218208" cy="596677"/>
          </a:xfrm>
          <a:prstGeom prst="rect">
            <a:avLst/>
          </a:prstGeom>
        </p:spPr>
      </p:pic>
      <p:sp>
        <p:nvSpPr>
          <p:cNvPr id="10" name="Google Shape;144;p28">
            <a:extLst>
              <a:ext uri="{FF2B5EF4-FFF2-40B4-BE49-F238E27FC236}">
                <a16:creationId xmlns:a16="http://schemas.microsoft.com/office/drawing/2014/main" id="{A8D6B5A4-F523-AB71-2B30-A97A7A6D0F80}"/>
              </a:ext>
            </a:extLst>
          </p:cNvPr>
          <p:cNvSpPr/>
          <p:nvPr/>
        </p:nvSpPr>
        <p:spPr>
          <a:xfrm>
            <a:off x="6691615" y="1611894"/>
            <a:ext cx="1485253" cy="405900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rgbClr val="F4E6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Compatibility Score</a:t>
            </a:r>
            <a:endParaRPr sz="1100" b="1" dirty="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11" name="Graphic 10" descr="Line arrow Straight">
            <a:extLst>
              <a:ext uri="{FF2B5EF4-FFF2-40B4-BE49-F238E27FC236}">
                <a16:creationId xmlns:a16="http://schemas.microsoft.com/office/drawing/2014/main" id="{78654A61-4196-BBA0-6E9A-EC361BF385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3097" b="2673"/>
          <a:stretch>
            <a:fillRect/>
          </a:stretch>
        </p:blipFill>
        <p:spPr>
          <a:xfrm rot="14801060">
            <a:off x="7881743" y="1834081"/>
            <a:ext cx="218208" cy="596677"/>
          </a:xfrm>
          <a:prstGeom prst="rect">
            <a:avLst/>
          </a:prstGeom>
        </p:spPr>
      </p:pic>
      <p:pic>
        <p:nvPicPr>
          <p:cNvPr id="13" name="Graphic 12" descr="Line arrow Straight">
            <a:extLst>
              <a:ext uri="{FF2B5EF4-FFF2-40B4-BE49-F238E27FC236}">
                <a16:creationId xmlns:a16="http://schemas.microsoft.com/office/drawing/2014/main" id="{75F5B63B-1C32-3506-9BE4-641C075534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3097" b="2673"/>
          <a:stretch>
            <a:fillRect/>
          </a:stretch>
        </p:blipFill>
        <p:spPr>
          <a:xfrm rot="17954694">
            <a:off x="6827002" y="1854199"/>
            <a:ext cx="218208" cy="596677"/>
          </a:xfrm>
          <a:prstGeom prst="rect">
            <a:avLst/>
          </a:prstGeom>
        </p:spPr>
      </p:pic>
      <p:sp>
        <p:nvSpPr>
          <p:cNvPr id="14" name="Google Shape;144;p28">
            <a:extLst>
              <a:ext uri="{FF2B5EF4-FFF2-40B4-BE49-F238E27FC236}">
                <a16:creationId xmlns:a16="http://schemas.microsoft.com/office/drawing/2014/main" id="{CABEF59A-E130-AF98-27BB-682FC4DCBCBA}"/>
              </a:ext>
            </a:extLst>
          </p:cNvPr>
          <p:cNvSpPr/>
          <p:nvPr/>
        </p:nvSpPr>
        <p:spPr>
          <a:xfrm>
            <a:off x="5826671" y="2247044"/>
            <a:ext cx="1371900" cy="405900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rgbClr val="F4E6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Discover Users</a:t>
            </a:r>
            <a:endParaRPr sz="1100" b="1" dirty="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15" name="Graphic 14" descr="Line arrow Straight">
            <a:extLst>
              <a:ext uri="{FF2B5EF4-FFF2-40B4-BE49-F238E27FC236}">
                <a16:creationId xmlns:a16="http://schemas.microsoft.com/office/drawing/2014/main" id="{CC0796A9-A331-033C-BFB1-8FDAE8D2D7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3097" b="2673"/>
          <a:stretch>
            <a:fillRect/>
          </a:stretch>
        </p:blipFill>
        <p:spPr>
          <a:xfrm rot="16200000">
            <a:off x="6403518" y="2463709"/>
            <a:ext cx="218208" cy="596677"/>
          </a:xfrm>
          <a:prstGeom prst="rect">
            <a:avLst/>
          </a:prstGeom>
        </p:spPr>
      </p:pic>
      <p:sp>
        <p:nvSpPr>
          <p:cNvPr id="16" name="Google Shape;144;p28">
            <a:extLst>
              <a:ext uri="{FF2B5EF4-FFF2-40B4-BE49-F238E27FC236}">
                <a16:creationId xmlns:a16="http://schemas.microsoft.com/office/drawing/2014/main" id="{779251BD-F4BC-AE60-23DF-ED5CD871A4EB}"/>
              </a:ext>
            </a:extLst>
          </p:cNvPr>
          <p:cNvSpPr/>
          <p:nvPr/>
        </p:nvSpPr>
        <p:spPr>
          <a:xfrm>
            <a:off x="5826672" y="2871151"/>
            <a:ext cx="1371900" cy="405900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rgbClr val="F4E6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Like/Pass</a:t>
            </a:r>
            <a:endParaRPr sz="1100" b="1" dirty="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17" name="Graphic 16" descr="Line arrow Straight">
            <a:extLst>
              <a:ext uri="{FF2B5EF4-FFF2-40B4-BE49-F238E27FC236}">
                <a16:creationId xmlns:a16="http://schemas.microsoft.com/office/drawing/2014/main" id="{BC33DC89-44EF-0C5B-B24B-534E4B762C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3097" b="2673"/>
          <a:stretch>
            <a:fillRect/>
          </a:stretch>
        </p:blipFill>
        <p:spPr>
          <a:xfrm rot="16200000">
            <a:off x="6403519" y="3087816"/>
            <a:ext cx="218208" cy="596677"/>
          </a:xfrm>
          <a:prstGeom prst="rect">
            <a:avLst/>
          </a:prstGeom>
        </p:spPr>
      </p:pic>
      <p:sp>
        <p:nvSpPr>
          <p:cNvPr id="18" name="Google Shape;144;p28">
            <a:extLst>
              <a:ext uri="{FF2B5EF4-FFF2-40B4-BE49-F238E27FC236}">
                <a16:creationId xmlns:a16="http://schemas.microsoft.com/office/drawing/2014/main" id="{3EDCE967-9C29-7D29-5F99-628388C5B18D}"/>
              </a:ext>
            </a:extLst>
          </p:cNvPr>
          <p:cNvSpPr/>
          <p:nvPr/>
        </p:nvSpPr>
        <p:spPr>
          <a:xfrm>
            <a:off x="5826670" y="3506301"/>
            <a:ext cx="1371900" cy="405900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rgbClr val="F4E6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Mutual Match</a:t>
            </a:r>
            <a:endParaRPr sz="1100" b="1" dirty="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19" name="Graphic 18" descr="Line arrow Straight">
            <a:extLst>
              <a:ext uri="{FF2B5EF4-FFF2-40B4-BE49-F238E27FC236}">
                <a16:creationId xmlns:a16="http://schemas.microsoft.com/office/drawing/2014/main" id="{977A4FBF-BB3C-3A39-16D1-EF5C715E21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3097" b="2673"/>
          <a:stretch>
            <a:fillRect/>
          </a:stretch>
        </p:blipFill>
        <p:spPr>
          <a:xfrm rot="16200000">
            <a:off x="6403517" y="3722966"/>
            <a:ext cx="218208" cy="596677"/>
          </a:xfrm>
          <a:prstGeom prst="rect">
            <a:avLst/>
          </a:prstGeom>
        </p:spPr>
      </p:pic>
      <p:sp>
        <p:nvSpPr>
          <p:cNvPr id="20" name="Google Shape;144;p28">
            <a:extLst>
              <a:ext uri="{FF2B5EF4-FFF2-40B4-BE49-F238E27FC236}">
                <a16:creationId xmlns:a16="http://schemas.microsoft.com/office/drawing/2014/main" id="{21877566-D10B-97CD-304C-62FD62C0E610}"/>
              </a:ext>
            </a:extLst>
          </p:cNvPr>
          <p:cNvSpPr/>
          <p:nvPr/>
        </p:nvSpPr>
        <p:spPr>
          <a:xfrm>
            <a:off x="5826671" y="4130408"/>
            <a:ext cx="1371900" cy="742928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rgbClr val="F4E6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Message &amp; Share/Hide Profile details</a:t>
            </a:r>
            <a:endParaRPr sz="1100" b="1" dirty="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2" name="Google Shape;144;p28">
            <a:extLst>
              <a:ext uri="{FF2B5EF4-FFF2-40B4-BE49-F238E27FC236}">
                <a16:creationId xmlns:a16="http://schemas.microsoft.com/office/drawing/2014/main" id="{82FE9D51-D159-1303-7B22-5F030E337172}"/>
              </a:ext>
            </a:extLst>
          </p:cNvPr>
          <p:cNvSpPr/>
          <p:nvPr/>
        </p:nvSpPr>
        <p:spPr>
          <a:xfrm>
            <a:off x="7669912" y="2236001"/>
            <a:ext cx="1371900" cy="405900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rgbClr val="F4E6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Browse/Make Listings</a:t>
            </a:r>
            <a:endParaRPr sz="1100" b="1" dirty="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23" name="Graphic 22" descr="Line arrow Straight">
            <a:extLst>
              <a:ext uri="{FF2B5EF4-FFF2-40B4-BE49-F238E27FC236}">
                <a16:creationId xmlns:a16="http://schemas.microsoft.com/office/drawing/2014/main" id="{0279F11C-630B-7FDF-52EE-880A86E0C6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3097" b="2673"/>
          <a:stretch>
            <a:fillRect/>
          </a:stretch>
        </p:blipFill>
        <p:spPr>
          <a:xfrm rot="16200000">
            <a:off x="8246759" y="2452666"/>
            <a:ext cx="218208" cy="596677"/>
          </a:xfrm>
          <a:prstGeom prst="rect">
            <a:avLst/>
          </a:prstGeom>
        </p:spPr>
      </p:pic>
      <p:sp>
        <p:nvSpPr>
          <p:cNvPr id="24" name="Google Shape;144;p28">
            <a:extLst>
              <a:ext uri="{FF2B5EF4-FFF2-40B4-BE49-F238E27FC236}">
                <a16:creationId xmlns:a16="http://schemas.microsoft.com/office/drawing/2014/main" id="{CCB7B08B-B032-6A47-8FA6-018A808E7AA0}"/>
              </a:ext>
            </a:extLst>
          </p:cNvPr>
          <p:cNvSpPr/>
          <p:nvPr/>
        </p:nvSpPr>
        <p:spPr>
          <a:xfrm>
            <a:off x="7669910" y="2871151"/>
            <a:ext cx="1371900" cy="405900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rgbClr val="F4E6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Enquire</a:t>
            </a:r>
            <a:endParaRPr sz="1100" b="1" dirty="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25" name="Graphic 24" descr="Line arrow Straight">
            <a:extLst>
              <a:ext uri="{FF2B5EF4-FFF2-40B4-BE49-F238E27FC236}">
                <a16:creationId xmlns:a16="http://schemas.microsoft.com/office/drawing/2014/main" id="{41EF3AE9-A6B1-2E49-EE86-68B4AA58D3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3097" b="2673"/>
          <a:stretch>
            <a:fillRect/>
          </a:stretch>
        </p:blipFill>
        <p:spPr>
          <a:xfrm rot="16200000">
            <a:off x="8246757" y="3087816"/>
            <a:ext cx="218208" cy="596677"/>
          </a:xfrm>
          <a:prstGeom prst="rect">
            <a:avLst/>
          </a:prstGeom>
        </p:spPr>
      </p:pic>
      <p:sp>
        <p:nvSpPr>
          <p:cNvPr id="26" name="Google Shape;144;p28">
            <a:extLst>
              <a:ext uri="{FF2B5EF4-FFF2-40B4-BE49-F238E27FC236}">
                <a16:creationId xmlns:a16="http://schemas.microsoft.com/office/drawing/2014/main" id="{8D7951E1-9BC6-E049-936C-DF813665236A}"/>
              </a:ext>
            </a:extLst>
          </p:cNvPr>
          <p:cNvSpPr/>
          <p:nvPr/>
        </p:nvSpPr>
        <p:spPr>
          <a:xfrm>
            <a:off x="7669911" y="3495258"/>
            <a:ext cx="1371900" cy="405900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rgbClr val="F4E6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Manage Listings</a:t>
            </a:r>
            <a:endParaRPr sz="1100" b="1" dirty="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210">
          <a:extLst>
            <a:ext uri="{FF2B5EF4-FFF2-40B4-BE49-F238E27FC236}">
              <a16:creationId xmlns:a16="http://schemas.microsoft.com/office/drawing/2014/main" id="{0C63A91A-98E8-3062-0480-7716DB56F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>
            <a:extLst>
              <a:ext uri="{FF2B5EF4-FFF2-40B4-BE49-F238E27FC236}">
                <a16:creationId xmlns:a16="http://schemas.microsoft.com/office/drawing/2014/main" id="{96EBA08E-A29B-188A-21B8-5D9054CAC2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331600" cy="5818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4E630"/>
                </a:solidFill>
                <a:highlight>
                  <a:srgbClr val="0000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2.</a:t>
            </a:r>
            <a:r>
              <a:rPr lang="e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Background </a:t>
            </a:r>
            <a:r>
              <a:rPr lang="en" sz="2400" b="1" dirty="0">
                <a:solidFill>
                  <a:schemeClr val="bg2">
                    <a:lumMod val="25000"/>
                    <a:lumOff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&amp; Problem</a:t>
            </a:r>
            <a:endParaRPr sz="2400" b="1" dirty="0">
              <a:solidFill>
                <a:schemeClr val="bg2">
                  <a:lumMod val="25000"/>
                  <a:lumOff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2" name="Google Shape;212;p32">
            <a:extLst>
              <a:ext uri="{FF2B5EF4-FFF2-40B4-BE49-F238E27FC236}">
                <a16:creationId xmlns:a16="http://schemas.microsoft.com/office/drawing/2014/main" id="{65238964-07D8-EFB0-CDCF-74B9C5BEBFE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8600" y="1109837"/>
            <a:ext cx="5646528" cy="3886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Increased Rent Pressure in UK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18D1A3-01C1-F551-811C-D12F4C30B682}"/>
              </a:ext>
            </a:extLst>
          </p:cNvPr>
          <p:cNvSpPr txBox="1"/>
          <p:nvPr/>
        </p:nvSpPr>
        <p:spPr>
          <a:xfrm>
            <a:off x="228600" y="1565830"/>
            <a:ext cx="4572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UK private rents rose by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5.5%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year-on-year</a:t>
            </a:r>
          </a:p>
          <a:p>
            <a:pPr marL="285750" lvl="0" indent="-285750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Around </a:t>
            </a:r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35.2%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of UK rent 2024-2025</a:t>
            </a:r>
          </a:p>
          <a:p>
            <a:pPr marL="285750" lvl="0" indent="-285750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Average UK private rent </a:t>
            </a:r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£1,254/month </a:t>
            </a:r>
          </a:p>
          <a:p>
            <a:pPr marL="285750" lvl="0" indent="-285750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Sharing rent reduces </a:t>
            </a:r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~£1,200 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to</a:t>
            </a:r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 ~£749 (-37%) </a:t>
            </a:r>
          </a:p>
          <a:p>
            <a:pPr marL="285750" lvl="0" indent="-285750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427F37E-CE38-0948-A8E9-D3D9FBB81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527" y="519545"/>
            <a:ext cx="4238873" cy="2813105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44123930-5A60-DE09-2F6C-13B65F434938}"/>
              </a:ext>
            </a:extLst>
          </p:cNvPr>
          <p:cNvGrpSpPr/>
          <p:nvPr/>
        </p:nvGrpSpPr>
        <p:grpSpPr>
          <a:xfrm>
            <a:off x="796923" y="3922942"/>
            <a:ext cx="6960706" cy="405900"/>
            <a:chOff x="896132" y="3984601"/>
            <a:chExt cx="6960706" cy="40590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E713E71-743A-92B2-D6A5-1761B4F50CAA}"/>
                </a:ext>
              </a:extLst>
            </p:cNvPr>
            <p:cNvSpPr txBox="1"/>
            <p:nvPr/>
          </p:nvSpPr>
          <p:spPr>
            <a:xfrm>
              <a:off x="995680" y="4033663"/>
              <a:ext cx="686115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“Sharing accommodation becomes a practical way to reduce cost pressure”</a:t>
              </a:r>
            </a:p>
          </p:txBody>
        </p:sp>
        <p:sp>
          <p:nvSpPr>
            <p:cNvPr id="29" name="Google Shape;144;p28">
              <a:extLst>
                <a:ext uri="{FF2B5EF4-FFF2-40B4-BE49-F238E27FC236}">
                  <a16:creationId xmlns:a16="http://schemas.microsoft.com/office/drawing/2014/main" id="{21F02573-B9B3-C2F9-35C6-C74C2E34B217}"/>
                </a:ext>
              </a:extLst>
            </p:cNvPr>
            <p:cNvSpPr/>
            <p:nvPr/>
          </p:nvSpPr>
          <p:spPr>
            <a:xfrm>
              <a:off x="896132" y="3984601"/>
              <a:ext cx="6764508" cy="405900"/>
            </a:xfrm>
            <a:prstGeom prst="roundRect">
              <a:avLst>
                <a:gd name="adj" fmla="val 50000"/>
              </a:avLst>
            </a:prstGeom>
            <a:noFill/>
            <a:ln w="38100" cap="flat" cmpd="sng">
              <a:solidFill>
                <a:srgbClr val="F4E6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 dirty="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0929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210">
          <a:extLst>
            <a:ext uri="{FF2B5EF4-FFF2-40B4-BE49-F238E27FC236}">
              <a16:creationId xmlns:a16="http://schemas.microsoft.com/office/drawing/2014/main" id="{5E795086-EE68-99A3-5579-F791F884D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>
            <a:extLst>
              <a:ext uri="{FF2B5EF4-FFF2-40B4-BE49-F238E27FC236}">
                <a16:creationId xmlns:a16="http://schemas.microsoft.com/office/drawing/2014/main" id="{55761B27-1640-3F3E-0FE8-0DD621D245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331600" cy="5818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4E630"/>
                </a:solidFill>
                <a:highlight>
                  <a:srgbClr val="0000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2.</a:t>
            </a:r>
            <a:r>
              <a:rPr lang="e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" sz="2400" b="1" dirty="0">
                <a:solidFill>
                  <a:schemeClr val="bg2">
                    <a:lumMod val="25000"/>
                    <a:lumOff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Background</a:t>
            </a:r>
            <a:r>
              <a:rPr lang="e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" sz="2400" b="1" dirty="0">
                <a:solidFill>
                  <a:schemeClr val="bg2">
                    <a:lumMod val="25000"/>
                    <a:lumOff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&amp; </a:t>
            </a:r>
            <a:r>
              <a:rPr lang="en" sz="2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Problem</a:t>
            </a:r>
            <a:endParaRPr sz="24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2" name="Google Shape;212;p32">
            <a:extLst>
              <a:ext uri="{FF2B5EF4-FFF2-40B4-BE49-F238E27FC236}">
                <a16:creationId xmlns:a16="http://schemas.microsoft.com/office/drawing/2014/main" id="{67C69EE9-A8E7-BCC3-0DA2-AF38069CDCC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56260" y="901763"/>
            <a:ext cx="8031480" cy="40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Sharing is common yet incompatibly is normalized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E27544-B934-D820-CA8B-AC9F916074C1}"/>
              </a:ext>
            </a:extLst>
          </p:cNvPr>
          <p:cNvSpPr txBox="1"/>
          <p:nvPr/>
        </p:nvSpPr>
        <p:spPr>
          <a:xfrm>
            <a:off x="304800" y="1398935"/>
            <a:ext cx="37287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Many students and young professionals live with people they barely know</a:t>
            </a:r>
          </a:p>
          <a:p>
            <a:pPr lvl="0">
              <a:buClr>
                <a:srgbClr val="F4E630"/>
              </a:buClr>
              <a:buSzPct val="200000"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Conflicts are often caused by different habits and expectations, not bad intentions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4463CE-3BE3-8319-F69F-8EFE2765A410}"/>
              </a:ext>
            </a:extLst>
          </p:cNvPr>
          <p:cNvSpPr txBox="1"/>
          <p:nvPr/>
        </p:nvSpPr>
        <p:spPr>
          <a:xfrm>
            <a:off x="4859020" y="1398935"/>
            <a:ext cx="37287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Most current platforms focus on rooms and listings, not the people living together</a:t>
            </a:r>
          </a:p>
          <a:p>
            <a:pPr marL="285750" lvl="0" indent="-285750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This leaves roommate decisions to luck, trial-and-error, or informal judgement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B89A3A-720A-5B30-C184-5E8899B0A9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219" r="2432" b="-1"/>
          <a:stretch>
            <a:fillRect/>
          </a:stretch>
        </p:blipFill>
        <p:spPr>
          <a:xfrm>
            <a:off x="387104" y="3028197"/>
            <a:ext cx="4489172" cy="203969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E8561AE-3FEE-EBD0-7933-8DB537306F08}"/>
              </a:ext>
            </a:extLst>
          </p:cNvPr>
          <p:cNvCxnSpPr/>
          <p:nvPr/>
        </p:nvCxnSpPr>
        <p:spPr>
          <a:xfrm>
            <a:off x="5135880" y="3210560"/>
            <a:ext cx="3342640" cy="0"/>
          </a:xfrm>
          <a:prstGeom prst="line">
            <a:avLst/>
          </a:prstGeom>
          <a:ln w="28575">
            <a:solidFill>
              <a:srgbClr val="F4E6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670B8D7-41C2-B741-7A6A-0199B1BA0482}"/>
              </a:ext>
            </a:extLst>
          </p:cNvPr>
          <p:cNvSpPr txBox="1"/>
          <p:nvPr/>
        </p:nvSpPr>
        <p:spPr>
          <a:xfrm>
            <a:off x="5028676" y="3678714"/>
            <a:ext cx="32181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47.2% 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were incompatible </a:t>
            </a:r>
          </a:p>
          <a:p>
            <a:pPr marL="285750" lvl="0" indent="-285750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16.7%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neutral </a:t>
            </a:r>
          </a:p>
          <a:p>
            <a:pPr marL="285750" lvl="0" indent="-285750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Only </a:t>
            </a:r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36.1% 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were compatible</a:t>
            </a:r>
          </a:p>
        </p:txBody>
      </p:sp>
      <p:sp>
        <p:nvSpPr>
          <p:cNvPr id="12" name="Google Shape;212;p32">
            <a:extLst>
              <a:ext uri="{FF2B5EF4-FFF2-40B4-BE49-F238E27FC236}">
                <a16:creationId xmlns:a16="http://schemas.microsoft.com/office/drawing/2014/main" id="{210321E4-8341-E5D8-87CC-66AAF37A6256}"/>
              </a:ext>
            </a:extLst>
          </p:cNvPr>
          <p:cNvSpPr txBox="1">
            <a:spLocks/>
          </p:cNvSpPr>
          <p:nvPr/>
        </p:nvSpPr>
        <p:spPr>
          <a:xfrm>
            <a:off x="5028676" y="3332391"/>
            <a:ext cx="3728220" cy="4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Mono"/>
              <a:buAutoNum type="arabicPeriod"/>
              <a:defRPr sz="1200" b="0" i="0" u="none" strike="noStrike" cap="none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Mono"/>
              <a:buAutoNum type="alphaLcPeriod"/>
              <a:defRPr sz="1200" b="0" i="0" u="none" strike="noStrike" cap="none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Mono"/>
              <a:buAutoNum type="romanLcPeriod"/>
              <a:defRPr sz="1200" b="0" i="0" u="none" strike="noStrike" cap="none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Mono"/>
              <a:buAutoNum type="arabicPeriod"/>
              <a:defRPr sz="1200" b="0" i="0" u="none" strike="noStrike" cap="none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Mono"/>
              <a:buAutoNum type="alphaLcPeriod"/>
              <a:defRPr sz="1200" b="0" i="0" u="none" strike="noStrike" cap="none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Mono"/>
              <a:buAutoNum type="romanLcPeriod"/>
              <a:defRPr sz="1200" b="0" i="0" u="none" strike="noStrike" cap="none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Mono"/>
              <a:buAutoNum type="arabicPeriod"/>
              <a:defRPr sz="1200" b="0" i="0" u="none" strike="noStrike" cap="none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Mono"/>
              <a:buAutoNum type="alphaLcPeriod"/>
              <a:defRPr sz="1200" b="0" i="0" u="none" strike="noStrike" cap="none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Mono"/>
              <a:buAutoNum type="romanLcPeriod"/>
              <a:defRPr sz="1200" b="0" i="0" u="none" strike="noStrike" cap="none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pPr marL="0" indent="0">
              <a:buFont typeface="Space Mono"/>
              <a:buNone/>
            </a:pPr>
            <a:r>
              <a:rPr lang="en-US" sz="1600" b="1" dirty="0"/>
              <a:t>Public Survey (36 Responses)</a:t>
            </a:r>
          </a:p>
        </p:txBody>
      </p:sp>
    </p:spTree>
    <p:extLst>
      <p:ext uri="{BB962C8B-B14F-4D97-AF65-F5344CB8AC3E}">
        <p14:creationId xmlns:p14="http://schemas.microsoft.com/office/powerpoint/2010/main" val="2902264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210">
          <a:extLst>
            <a:ext uri="{FF2B5EF4-FFF2-40B4-BE49-F238E27FC236}">
              <a16:creationId xmlns:a16="http://schemas.microsoft.com/office/drawing/2014/main" id="{C84A4C9A-46F4-7C31-8A1F-EB4FD675A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>
            <a:extLst>
              <a:ext uri="{FF2B5EF4-FFF2-40B4-BE49-F238E27FC236}">
                <a16:creationId xmlns:a16="http://schemas.microsoft.com/office/drawing/2014/main" id="{DCA773B9-06F3-7A27-2F9E-96768B2925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331600" cy="5818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4E630"/>
                </a:solidFill>
                <a:highlight>
                  <a:srgbClr val="0000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3.</a:t>
            </a:r>
            <a:r>
              <a:rPr lang="e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" sz="2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Proposed Solution</a:t>
            </a:r>
            <a:endParaRPr sz="24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2" name="Google Shape;212;p32">
            <a:extLst>
              <a:ext uri="{FF2B5EF4-FFF2-40B4-BE49-F238E27FC236}">
                <a16:creationId xmlns:a16="http://schemas.microsoft.com/office/drawing/2014/main" id="{5BB5DE0A-8934-E9E6-FA69-77821F969B1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8600" y="901763"/>
            <a:ext cx="8559800" cy="40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Problem               |       </a:t>
            </a:r>
            <a:r>
              <a:rPr lang="en-US" sz="1800" b="1" dirty="0" err="1"/>
              <a:t>Wanted’s</a:t>
            </a:r>
            <a:r>
              <a:rPr lang="en-US" sz="1800" b="1" dirty="0"/>
              <a:t> Solution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3FC2F30-36CF-E9D8-D70D-6DC7C6323E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533762"/>
              </p:ext>
            </p:extLst>
          </p:nvPr>
        </p:nvGraphicFramePr>
        <p:xfrm>
          <a:off x="228600" y="1398935"/>
          <a:ext cx="8559800" cy="3399777"/>
        </p:xfrm>
        <a:graphic>
          <a:graphicData uri="http://schemas.openxmlformats.org/drawingml/2006/table">
            <a:tbl>
              <a:tblPr firstRow="1" bandRow="1">
                <a:tableStyleId>{5382A9D1-2818-49D0-B105-3806FDFD11B4}</a:tableStyleId>
              </a:tblPr>
              <a:tblGrid>
                <a:gridCol w="4176418">
                  <a:extLst>
                    <a:ext uri="{9D8B030D-6E8A-4147-A177-3AD203B41FA5}">
                      <a16:colId xmlns:a16="http://schemas.microsoft.com/office/drawing/2014/main" val="619488084"/>
                    </a:ext>
                  </a:extLst>
                </a:gridCol>
                <a:gridCol w="4383382">
                  <a:extLst>
                    <a:ext uri="{9D8B030D-6E8A-4147-A177-3AD203B41FA5}">
                      <a16:colId xmlns:a16="http://schemas.microsoft.com/office/drawing/2014/main" val="1098332419"/>
                    </a:ext>
                  </a:extLst>
                </a:gridCol>
              </a:tblGrid>
              <a:tr h="1133259">
                <a:tc>
                  <a:txBody>
                    <a:bodyPr/>
                    <a:lstStyle/>
                    <a:p>
                      <a:r>
                        <a:rPr lang="en-US" dirty="0"/>
                        <a:t>❓Users do not know flat mates before moving in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💡Browse &amp; Connect with other users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85159491"/>
                  </a:ext>
                </a:extLst>
              </a:tr>
              <a:tr h="1133259">
                <a:tc>
                  <a:txBody>
                    <a:bodyPr/>
                    <a:lstStyle/>
                    <a:p>
                      <a:r>
                        <a:rPr lang="en-US" dirty="0"/>
                        <a:t>❓Different preferences cause stress/conflicts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💡Compatibility ranked using habits/preferences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53914679"/>
                  </a:ext>
                </a:extLst>
              </a:tr>
              <a:tr h="1133259">
                <a:tc>
                  <a:txBody>
                    <a:bodyPr/>
                    <a:lstStyle/>
                    <a:p>
                      <a:r>
                        <a:rPr lang="en-US" dirty="0"/>
                        <a:t>❓Other platforms focus mainly on rooms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💡Roommate matching features with basic listings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6098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179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210">
          <a:extLst>
            <a:ext uri="{FF2B5EF4-FFF2-40B4-BE49-F238E27FC236}">
              <a16:creationId xmlns:a16="http://schemas.microsoft.com/office/drawing/2014/main" id="{A5A93C22-2FDE-F222-14AE-9C8D4374E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>
            <a:extLst>
              <a:ext uri="{FF2B5EF4-FFF2-40B4-BE49-F238E27FC236}">
                <a16:creationId xmlns:a16="http://schemas.microsoft.com/office/drawing/2014/main" id="{233734E7-1735-CA42-A85A-90974BE469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331600" cy="5818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4E630"/>
                </a:solidFill>
                <a:highlight>
                  <a:srgbClr val="0000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4.</a:t>
            </a:r>
            <a:r>
              <a:rPr lang="e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" sz="2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Surveys</a:t>
            </a:r>
            <a:endParaRPr sz="2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5EB106-24AA-E449-69A6-B0DA8E7C85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04" t="20080" r="16166"/>
          <a:stretch>
            <a:fillRect/>
          </a:stretch>
        </p:blipFill>
        <p:spPr>
          <a:xfrm>
            <a:off x="228600" y="1020649"/>
            <a:ext cx="6724583" cy="401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940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210">
          <a:extLst>
            <a:ext uri="{FF2B5EF4-FFF2-40B4-BE49-F238E27FC236}">
              <a16:creationId xmlns:a16="http://schemas.microsoft.com/office/drawing/2014/main" id="{84DD67C5-0852-82B1-4F30-F4F3310BE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>
            <a:extLst>
              <a:ext uri="{FF2B5EF4-FFF2-40B4-BE49-F238E27FC236}">
                <a16:creationId xmlns:a16="http://schemas.microsoft.com/office/drawing/2014/main" id="{09C459D8-4A8C-80DE-F31F-B6CA9D15A1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331600" cy="5818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4E630"/>
                </a:solidFill>
                <a:highlight>
                  <a:srgbClr val="0000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5.</a:t>
            </a:r>
            <a:r>
              <a:rPr lang="e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System </a:t>
            </a:r>
            <a:r>
              <a:rPr lang="en" sz="2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Architecture</a:t>
            </a:r>
            <a:endParaRPr sz="24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B43EE0-DE9D-1003-5BC3-A996FFB119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79" b="7220"/>
          <a:stretch>
            <a:fillRect/>
          </a:stretch>
        </p:blipFill>
        <p:spPr>
          <a:xfrm>
            <a:off x="349734" y="1920240"/>
            <a:ext cx="8310730" cy="30988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CB791E0-AE9A-AE7A-9396-16B899B8DA08}"/>
              </a:ext>
            </a:extLst>
          </p:cNvPr>
          <p:cNvSpPr txBox="1"/>
          <p:nvPr/>
        </p:nvSpPr>
        <p:spPr>
          <a:xfrm>
            <a:off x="406182" y="940534"/>
            <a:ext cx="601747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F4E630"/>
              </a:buClr>
              <a:buFont typeface="Wingdings" panose="05000000000000000000" pitchFamily="2" charset="2"/>
              <a:buChar char="§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Laravel / PHP: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framework for routing and controllers</a:t>
            </a:r>
          </a:p>
          <a:p>
            <a:pPr>
              <a:buClr>
                <a:srgbClr val="F4E630"/>
              </a:buClr>
            </a:pPr>
            <a:endParaRPr lang="en-US" sz="3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Clr>
                <a:srgbClr val="F4E630"/>
              </a:buClr>
              <a:buFont typeface="Wingdings" panose="05000000000000000000" pitchFamily="2" charset="2"/>
              <a:buChar char="§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MySQL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: stores users' data in 13 tables</a:t>
            </a:r>
          </a:p>
          <a:p>
            <a:pPr>
              <a:buClr>
                <a:srgbClr val="F4E630"/>
              </a:buClr>
            </a:pPr>
            <a:endParaRPr lang="en-US" sz="3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Clr>
                <a:srgbClr val="F4E630"/>
              </a:buClr>
              <a:buFont typeface="Wingdings" panose="05000000000000000000" pitchFamily="2" charset="2"/>
              <a:buChar char="§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Bootstrap + JavaScript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: desktop-first and interactive UI</a:t>
            </a:r>
          </a:p>
          <a:p>
            <a:pPr marL="285750" indent="-285750">
              <a:buClr>
                <a:srgbClr val="F4E630"/>
              </a:buClr>
              <a:buFont typeface="Wingdings" panose="05000000000000000000" pitchFamily="2" charset="2"/>
              <a:buChar char="§"/>
            </a:pPr>
            <a:endParaRPr lang="en-US" sz="3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Clr>
                <a:srgbClr val="F4E630"/>
              </a:buClr>
              <a:buFont typeface="Wingdings" panose="05000000000000000000" pitchFamily="2" charset="2"/>
              <a:buChar char="§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Gemini API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: auto bio generation</a:t>
            </a:r>
          </a:p>
          <a:p>
            <a:pPr>
              <a:buClr>
                <a:srgbClr val="F4E630"/>
              </a:buClr>
            </a:pPr>
            <a:endParaRPr lang="en-US" sz="3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Clr>
                <a:srgbClr val="F4E630"/>
              </a:buClr>
              <a:buFont typeface="Wingdings" panose="05000000000000000000" pitchFamily="2" charset="2"/>
              <a:buChar char="§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Flask + scikit-learn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: beta AI scoring service</a:t>
            </a:r>
          </a:p>
          <a:p>
            <a:pPr marL="285750" indent="-285750">
              <a:buClr>
                <a:srgbClr val="F4E630"/>
              </a:buClr>
              <a:buFont typeface="Wingdings" panose="05000000000000000000" pitchFamily="2" charset="2"/>
              <a:buChar char="§"/>
            </a:pPr>
            <a:endParaRPr lang="en-US" sz="3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Clr>
                <a:srgbClr val="F4E630"/>
              </a:buClr>
              <a:buFont typeface="Wingdings" panose="05000000000000000000" pitchFamily="2" charset="2"/>
              <a:buChar char="§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XAMPP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: local development and testing environment</a:t>
            </a:r>
          </a:p>
        </p:txBody>
      </p:sp>
    </p:spTree>
    <p:extLst>
      <p:ext uri="{BB962C8B-B14F-4D97-AF65-F5344CB8AC3E}">
        <p14:creationId xmlns:p14="http://schemas.microsoft.com/office/powerpoint/2010/main" val="2283884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210">
          <a:extLst>
            <a:ext uri="{FF2B5EF4-FFF2-40B4-BE49-F238E27FC236}">
              <a16:creationId xmlns:a16="http://schemas.microsoft.com/office/drawing/2014/main" id="{711E78FA-FB43-D678-FB7E-D90DB90FA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>
            <a:extLst>
              <a:ext uri="{FF2B5EF4-FFF2-40B4-BE49-F238E27FC236}">
                <a16:creationId xmlns:a16="http://schemas.microsoft.com/office/drawing/2014/main" id="{CBDEE4DF-F1BA-EBCE-C2E9-A7E7533161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331600" cy="5818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4E630"/>
                </a:solidFill>
                <a:highlight>
                  <a:srgbClr val="0000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6.</a:t>
            </a:r>
            <a:r>
              <a:rPr lang="e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" sz="2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Product Features</a:t>
            </a:r>
            <a:endParaRPr sz="24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715173-6F97-EE8D-E13E-8858DA6DD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93AA7520-AF4C-89B0-90C2-5802516C3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927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2E66ED6-B316-0D4B-914A-B1F6CA695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4B55EEB-0808-D9FA-384B-72F73B21B3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48" r="1917"/>
          <a:stretch>
            <a:fillRect/>
          </a:stretch>
        </p:blipFill>
        <p:spPr>
          <a:xfrm>
            <a:off x="1347040" y="698903"/>
            <a:ext cx="6247770" cy="4215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785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210">
          <a:extLst>
            <a:ext uri="{FF2B5EF4-FFF2-40B4-BE49-F238E27FC236}">
              <a16:creationId xmlns:a16="http://schemas.microsoft.com/office/drawing/2014/main" id="{5744EB42-97F0-4E9D-9129-D2201E837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>
            <a:extLst>
              <a:ext uri="{FF2B5EF4-FFF2-40B4-BE49-F238E27FC236}">
                <a16:creationId xmlns:a16="http://schemas.microsoft.com/office/drawing/2014/main" id="{4FF5860E-DF15-EFD4-7181-5F03796AC8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331600" cy="5818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4E630"/>
                </a:solidFill>
                <a:highlight>
                  <a:srgbClr val="0000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7.</a:t>
            </a:r>
            <a:r>
              <a:rPr lang="e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" sz="2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Testing</a:t>
            </a:r>
            <a:endParaRPr sz="2400" b="1" dirty="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59978B-A00D-84EE-B92F-4DBA42B57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B154D6BB-F3EC-F988-D1B0-E9F3588EC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927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0170E2B8-FC5F-0FAB-39C4-6073CC013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DA7A17A9-09FC-D8C8-8060-F278F7152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EC80A157-1DF9-CF0A-A1F9-8599F65DA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602085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91A8DC04-ADBA-1CD5-A24E-2B3666B56F53}"/>
              </a:ext>
            </a:extLst>
          </p:cNvPr>
          <p:cNvSpPr/>
          <p:nvPr/>
        </p:nvSpPr>
        <p:spPr>
          <a:xfrm>
            <a:off x="614380" y="9179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Participants</a:t>
            </a:r>
            <a:endParaRPr lang="en-US" sz="1400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34038E52-126C-E900-516D-01924BB23F54}"/>
              </a:ext>
            </a:extLst>
          </p:cNvPr>
          <p:cNvSpPr/>
          <p:nvPr/>
        </p:nvSpPr>
        <p:spPr>
          <a:xfrm>
            <a:off x="649890" y="1340576"/>
            <a:ext cx="438912" cy="438912"/>
          </a:xfrm>
          <a:prstGeom prst="ellipse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F8369D39-8728-6032-1FF4-8A8ADC1916A2}"/>
              </a:ext>
            </a:extLst>
          </p:cNvPr>
          <p:cNvSpPr/>
          <p:nvPr/>
        </p:nvSpPr>
        <p:spPr>
          <a:xfrm>
            <a:off x="649890" y="13405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B8BA16E6-6684-BC34-72AF-79EEE8A13932}"/>
              </a:ext>
            </a:extLst>
          </p:cNvPr>
          <p:cNvSpPr/>
          <p:nvPr/>
        </p:nvSpPr>
        <p:spPr>
          <a:xfrm>
            <a:off x="1216818" y="1340576"/>
            <a:ext cx="438912" cy="438912"/>
          </a:xfrm>
          <a:prstGeom prst="ellipse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1072153-A67C-C3A0-58CA-941ACB327A9C}"/>
              </a:ext>
            </a:extLst>
          </p:cNvPr>
          <p:cNvSpPr/>
          <p:nvPr/>
        </p:nvSpPr>
        <p:spPr>
          <a:xfrm>
            <a:off x="1216818" y="13405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7A81376A-D043-64EB-A8E4-C0DE81600899}"/>
              </a:ext>
            </a:extLst>
          </p:cNvPr>
          <p:cNvSpPr/>
          <p:nvPr/>
        </p:nvSpPr>
        <p:spPr>
          <a:xfrm>
            <a:off x="1783746" y="1340576"/>
            <a:ext cx="438912" cy="438912"/>
          </a:xfrm>
          <a:prstGeom prst="ellipse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0E7638DA-68F0-57CB-B333-773D7C8F9542}"/>
              </a:ext>
            </a:extLst>
          </p:cNvPr>
          <p:cNvSpPr/>
          <p:nvPr/>
        </p:nvSpPr>
        <p:spPr>
          <a:xfrm>
            <a:off x="1783746" y="13405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3CD396AE-74F3-1254-AA02-71232595F5B7}"/>
              </a:ext>
            </a:extLst>
          </p:cNvPr>
          <p:cNvSpPr/>
          <p:nvPr/>
        </p:nvSpPr>
        <p:spPr>
          <a:xfrm>
            <a:off x="2350674" y="1340576"/>
            <a:ext cx="438912" cy="438912"/>
          </a:xfrm>
          <a:prstGeom prst="ellipse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04B6FC2F-815C-49FA-26DB-371F552F99C4}"/>
              </a:ext>
            </a:extLst>
          </p:cNvPr>
          <p:cNvSpPr/>
          <p:nvPr/>
        </p:nvSpPr>
        <p:spPr>
          <a:xfrm>
            <a:off x="2350674" y="13405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072A307C-9A06-0223-F297-52EAD575CCAB}"/>
              </a:ext>
            </a:extLst>
          </p:cNvPr>
          <p:cNvSpPr/>
          <p:nvPr/>
        </p:nvSpPr>
        <p:spPr>
          <a:xfrm>
            <a:off x="630286" y="179777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Local Students</a:t>
            </a:r>
            <a:endParaRPr lang="en-US" sz="1050" dirty="0"/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CCCE280A-9884-9967-FE53-0CCA19E9B3FF}"/>
              </a:ext>
            </a:extLst>
          </p:cNvPr>
          <p:cNvSpPr/>
          <p:nvPr/>
        </p:nvSpPr>
        <p:spPr>
          <a:xfrm>
            <a:off x="659034" y="2113243"/>
            <a:ext cx="438912" cy="438912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674F92BC-AB96-7D87-92A0-259A49470E20}"/>
              </a:ext>
            </a:extLst>
          </p:cNvPr>
          <p:cNvSpPr/>
          <p:nvPr/>
        </p:nvSpPr>
        <p:spPr>
          <a:xfrm>
            <a:off x="659034" y="2113243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F1C6AF5D-5135-2309-134D-3BCBD3748096}"/>
              </a:ext>
            </a:extLst>
          </p:cNvPr>
          <p:cNvSpPr/>
          <p:nvPr/>
        </p:nvSpPr>
        <p:spPr>
          <a:xfrm>
            <a:off x="1225962" y="2113243"/>
            <a:ext cx="438912" cy="438912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6E75967B-FE23-64BC-D124-5D47DC67E802}"/>
              </a:ext>
            </a:extLst>
          </p:cNvPr>
          <p:cNvSpPr/>
          <p:nvPr/>
        </p:nvSpPr>
        <p:spPr>
          <a:xfrm>
            <a:off x="1225962" y="2113243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25" name="Shape 15">
            <a:extLst>
              <a:ext uri="{FF2B5EF4-FFF2-40B4-BE49-F238E27FC236}">
                <a16:creationId xmlns:a16="http://schemas.microsoft.com/office/drawing/2014/main" id="{D9A682B0-8966-8FE3-94E0-12FD863B8B26}"/>
              </a:ext>
            </a:extLst>
          </p:cNvPr>
          <p:cNvSpPr/>
          <p:nvPr/>
        </p:nvSpPr>
        <p:spPr>
          <a:xfrm>
            <a:off x="1792890" y="2113243"/>
            <a:ext cx="438912" cy="438912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8DEDED66-700B-2F5C-6E0D-8416A4C07FB3}"/>
              </a:ext>
            </a:extLst>
          </p:cNvPr>
          <p:cNvSpPr/>
          <p:nvPr/>
        </p:nvSpPr>
        <p:spPr>
          <a:xfrm>
            <a:off x="1792890" y="2113243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27" name="Shape 17">
            <a:extLst>
              <a:ext uri="{FF2B5EF4-FFF2-40B4-BE49-F238E27FC236}">
                <a16:creationId xmlns:a16="http://schemas.microsoft.com/office/drawing/2014/main" id="{C7ED8271-C7F0-1E7A-BF36-FC840AA2AD61}"/>
              </a:ext>
            </a:extLst>
          </p:cNvPr>
          <p:cNvSpPr/>
          <p:nvPr/>
        </p:nvSpPr>
        <p:spPr>
          <a:xfrm>
            <a:off x="2359818" y="2113243"/>
            <a:ext cx="438912" cy="438912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1B6D9A36-7A8B-01E3-A9D6-A7BD00CC0035}"/>
              </a:ext>
            </a:extLst>
          </p:cNvPr>
          <p:cNvSpPr/>
          <p:nvPr/>
        </p:nvSpPr>
        <p:spPr>
          <a:xfrm>
            <a:off x="2359818" y="2113243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38B04F80-4F7E-AF98-B5FB-7568756D9096}"/>
              </a:ext>
            </a:extLst>
          </p:cNvPr>
          <p:cNvSpPr/>
          <p:nvPr/>
        </p:nvSpPr>
        <p:spPr>
          <a:xfrm>
            <a:off x="659034" y="2516594"/>
            <a:ext cx="149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International Students</a:t>
            </a:r>
            <a:endParaRPr lang="en-US" sz="1050" dirty="0"/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23A76969-1517-1EA4-8B73-DB689A1E00D0}"/>
              </a:ext>
            </a:extLst>
          </p:cNvPr>
          <p:cNvSpPr/>
          <p:nvPr/>
        </p:nvSpPr>
        <p:spPr>
          <a:xfrm>
            <a:off x="659034" y="2945347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Testing Process</a:t>
            </a:r>
            <a:endParaRPr lang="en-US" sz="1300" dirty="0"/>
          </a:p>
        </p:txBody>
      </p:sp>
      <p:sp>
        <p:nvSpPr>
          <p:cNvPr id="31" name="Shape 21">
            <a:extLst>
              <a:ext uri="{FF2B5EF4-FFF2-40B4-BE49-F238E27FC236}">
                <a16:creationId xmlns:a16="http://schemas.microsoft.com/office/drawing/2014/main" id="{1762294B-4D55-645A-7C5D-33DFA32DF1DB}"/>
              </a:ext>
            </a:extLst>
          </p:cNvPr>
          <p:cNvSpPr/>
          <p:nvPr/>
        </p:nvSpPr>
        <p:spPr>
          <a:xfrm>
            <a:off x="644810" y="3292819"/>
            <a:ext cx="347472" cy="347472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192" name="Text 22">
            <a:extLst>
              <a:ext uri="{FF2B5EF4-FFF2-40B4-BE49-F238E27FC236}">
                <a16:creationId xmlns:a16="http://schemas.microsoft.com/office/drawing/2014/main" id="{5DB290E9-43A5-9994-584F-C1AA354813E4}"/>
              </a:ext>
            </a:extLst>
          </p:cNvPr>
          <p:cNvSpPr/>
          <p:nvPr/>
        </p:nvSpPr>
        <p:spPr>
          <a:xfrm>
            <a:off x="644810" y="329281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</a:rPr>
              <a:t>1</a:t>
            </a:r>
            <a:endParaRPr lang="en-US" sz="1100" dirty="0"/>
          </a:p>
        </p:txBody>
      </p:sp>
      <p:sp>
        <p:nvSpPr>
          <p:cNvPr id="193" name="Text 23">
            <a:extLst>
              <a:ext uri="{FF2B5EF4-FFF2-40B4-BE49-F238E27FC236}">
                <a16:creationId xmlns:a16="http://schemas.microsoft.com/office/drawing/2014/main" id="{0493480B-1CAF-EA19-C230-0A16AC4E80AD}"/>
              </a:ext>
            </a:extLst>
          </p:cNvPr>
          <p:cNvSpPr/>
          <p:nvPr/>
        </p:nvSpPr>
        <p:spPr>
          <a:xfrm>
            <a:off x="1120298" y="3329395"/>
            <a:ext cx="2013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Exploration of the app</a:t>
            </a:r>
            <a:endParaRPr lang="en-US" sz="1100" dirty="0"/>
          </a:p>
        </p:txBody>
      </p:sp>
      <p:sp>
        <p:nvSpPr>
          <p:cNvPr id="194" name="Shape 24">
            <a:extLst>
              <a:ext uri="{FF2B5EF4-FFF2-40B4-BE49-F238E27FC236}">
                <a16:creationId xmlns:a16="http://schemas.microsoft.com/office/drawing/2014/main" id="{5EB8C290-8049-94DD-20BD-E8A1995F6FEF}"/>
              </a:ext>
            </a:extLst>
          </p:cNvPr>
          <p:cNvSpPr/>
          <p:nvPr/>
        </p:nvSpPr>
        <p:spPr>
          <a:xfrm>
            <a:off x="644810" y="3768307"/>
            <a:ext cx="347472" cy="347472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195" name="Text 25">
            <a:extLst>
              <a:ext uri="{FF2B5EF4-FFF2-40B4-BE49-F238E27FC236}">
                <a16:creationId xmlns:a16="http://schemas.microsoft.com/office/drawing/2014/main" id="{30353BA6-4B42-497A-2224-1905F92494BF}"/>
              </a:ext>
            </a:extLst>
          </p:cNvPr>
          <p:cNvSpPr/>
          <p:nvPr/>
        </p:nvSpPr>
        <p:spPr>
          <a:xfrm>
            <a:off x="644810" y="376830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</a:rPr>
              <a:t>2</a:t>
            </a:r>
            <a:endParaRPr lang="en-US" sz="1100" dirty="0"/>
          </a:p>
        </p:txBody>
      </p:sp>
      <p:sp>
        <p:nvSpPr>
          <p:cNvPr id="196" name="Text 26">
            <a:extLst>
              <a:ext uri="{FF2B5EF4-FFF2-40B4-BE49-F238E27FC236}">
                <a16:creationId xmlns:a16="http://schemas.microsoft.com/office/drawing/2014/main" id="{AEC68240-9752-7B6D-9183-6FB5D932A929}"/>
              </a:ext>
            </a:extLst>
          </p:cNvPr>
          <p:cNvSpPr/>
          <p:nvPr/>
        </p:nvSpPr>
        <p:spPr>
          <a:xfrm>
            <a:off x="1120298" y="3804883"/>
            <a:ext cx="2262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Swiping against 20 prepared profiles</a:t>
            </a:r>
            <a:endParaRPr lang="en-US" sz="1100" dirty="0"/>
          </a:p>
        </p:txBody>
      </p:sp>
      <p:sp>
        <p:nvSpPr>
          <p:cNvPr id="197" name="Shape 27">
            <a:extLst>
              <a:ext uri="{FF2B5EF4-FFF2-40B4-BE49-F238E27FC236}">
                <a16:creationId xmlns:a16="http://schemas.microsoft.com/office/drawing/2014/main" id="{5361C2DD-20D4-1BB7-3581-98B1A9325FE1}"/>
              </a:ext>
            </a:extLst>
          </p:cNvPr>
          <p:cNvSpPr/>
          <p:nvPr/>
        </p:nvSpPr>
        <p:spPr>
          <a:xfrm>
            <a:off x="644810" y="4243795"/>
            <a:ext cx="347472" cy="347472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198" name="Text 28">
            <a:extLst>
              <a:ext uri="{FF2B5EF4-FFF2-40B4-BE49-F238E27FC236}">
                <a16:creationId xmlns:a16="http://schemas.microsoft.com/office/drawing/2014/main" id="{2002CAA7-E307-7E5F-E2B8-79B71C0641CF}"/>
              </a:ext>
            </a:extLst>
          </p:cNvPr>
          <p:cNvSpPr/>
          <p:nvPr/>
        </p:nvSpPr>
        <p:spPr>
          <a:xfrm>
            <a:off x="644810" y="424379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</a:rPr>
              <a:t>3</a:t>
            </a:r>
            <a:endParaRPr lang="en-US" sz="1100" dirty="0"/>
          </a:p>
        </p:txBody>
      </p:sp>
      <p:sp>
        <p:nvSpPr>
          <p:cNvPr id="199" name="Text 29">
            <a:extLst>
              <a:ext uri="{FF2B5EF4-FFF2-40B4-BE49-F238E27FC236}">
                <a16:creationId xmlns:a16="http://schemas.microsoft.com/office/drawing/2014/main" id="{F1A64B13-6843-0B8A-960E-1D3927784196}"/>
              </a:ext>
            </a:extLst>
          </p:cNvPr>
          <p:cNvSpPr/>
          <p:nvPr/>
        </p:nvSpPr>
        <p:spPr>
          <a:xfrm>
            <a:off x="1120298" y="4280371"/>
            <a:ext cx="2189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online feedback form</a:t>
            </a:r>
            <a:endParaRPr lang="en-US" sz="1100" dirty="0"/>
          </a:p>
        </p:txBody>
      </p: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5C831F40-1B87-0923-FC7C-46374A1E3242}"/>
              </a:ext>
            </a:extLst>
          </p:cNvPr>
          <p:cNvGrpSpPr/>
          <p:nvPr/>
        </p:nvGrpSpPr>
        <p:grpSpPr>
          <a:xfrm>
            <a:off x="2645014" y="4692396"/>
            <a:ext cx="3749040" cy="292608"/>
            <a:chOff x="1847088" y="4683761"/>
            <a:chExt cx="3749040" cy="292608"/>
          </a:xfrm>
        </p:grpSpPr>
        <p:sp>
          <p:nvSpPr>
            <p:cNvPr id="200" name="Shape 30">
              <a:extLst>
                <a:ext uri="{FF2B5EF4-FFF2-40B4-BE49-F238E27FC236}">
                  <a16:creationId xmlns:a16="http://schemas.microsoft.com/office/drawing/2014/main" id="{AA1266BE-EBC9-8641-4888-F0F520717552}"/>
                </a:ext>
              </a:extLst>
            </p:cNvPr>
            <p:cNvSpPr/>
            <p:nvPr/>
          </p:nvSpPr>
          <p:spPr>
            <a:xfrm>
              <a:off x="1847088" y="4683761"/>
              <a:ext cx="3749040" cy="292608"/>
            </a:xfrm>
            <a:prstGeom prst="rect">
              <a:avLst/>
            </a:prstGeom>
            <a:solidFill>
              <a:srgbClr val="FFF9C4"/>
            </a:solidFill>
            <a:ln w="12700">
              <a:solidFill>
                <a:srgbClr val="FFD500"/>
              </a:solidFill>
              <a:prstDash val="solid"/>
            </a:ln>
          </p:spPr>
        </p:sp>
        <p:sp>
          <p:nvSpPr>
            <p:cNvPr id="201" name="Text 31">
              <a:extLst>
                <a:ext uri="{FF2B5EF4-FFF2-40B4-BE49-F238E27FC236}">
                  <a16:creationId xmlns:a16="http://schemas.microsoft.com/office/drawing/2014/main" id="{6755C564-9216-DA54-E976-B8CCBDB5BDF7}"/>
                </a:ext>
              </a:extLst>
            </p:cNvPr>
            <p:cNvSpPr/>
            <p:nvPr/>
          </p:nvSpPr>
          <p:spPr>
            <a:xfrm>
              <a:off x="1965960" y="4720337"/>
              <a:ext cx="356616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37415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✅  Iteration 1:  Auto Bio · Second Chance · Listing Dashboard · AI Mode</a:t>
              </a:r>
              <a:endParaRPr lang="en-US" sz="850" dirty="0"/>
            </a:p>
          </p:txBody>
        </p:sp>
      </p:grp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854483D6-79E3-CA39-5B0B-32655A5A3E3C}"/>
              </a:ext>
            </a:extLst>
          </p:cNvPr>
          <p:cNvCxnSpPr>
            <a:cxnSpLocks/>
          </p:cNvCxnSpPr>
          <p:nvPr/>
        </p:nvCxnSpPr>
        <p:spPr>
          <a:xfrm>
            <a:off x="420274" y="2846831"/>
            <a:ext cx="3474720" cy="0"/>
          </a:xfrm>
          <a:prstGeom prst="line">
            <a:avLst/>
          </a:prstGeom>
          <a:ln w="28575">
            <a:solidFill>
              <a:srgbClr val="F4E6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Text 32">
            <a:extLst>
              <a:ext uri="{FF2B5EF4-FFF2-40B4-BE49-F238E27FC236}">
                <a16:creationId xmlns:a16="http://schemas.microsoft.com/office/drawing/2014/main" id="{545BA9D2-9CB4-D8A1-5A94-C8A26BD4A25E}"/>
              </a:ext>
            </a:extLst>
          </p:cNvPr>
          <p:cNvSpPr/>
          <p:nvPr/>
        </p:nvSpPr>
        <p:spPr>
          <a:xfrm>
            <a:off x="4519534" y="761999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Feedback Ratings  (avg. out of 5)</a:t>
            </a:r>
            <a:endParaRPr lang="en-US" sz="1400" dirty="0"/>
          </a:p>
        </p:txBody>
      </p:sp>
      <p:sp>
        <p:nvSpPr>
          <p:cNvPr id="206" name="Text 33">
            <a:extLst>
              <a:ext uri="{FF2B5EF4-FFF2-40B4-BE49-F238E27FC236}">
                <a16:creationId xmlns:a16="http://schemas.microsoft.com/office/drawing/2014/main" id="{FC140DAB-9661-4EC5-8892-17674961C66C}"/>
              </a:ext>
            </a:extLst>
          </p:cNvPr>
          <p:cNvSpPr/>
          <p:nvPr/>
        </p:nvSpPr>
        <p:spPr>
          <a:xfrm>
            <a:off x="4519534" y="1219199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Sharing Feature</a:t>
            </a:r>
            <a:endParaRPr lang="en-US" sz="1050" dirty="0"/>
          </a:p>
        </p:txBody>
      </p:sp>
      <p:sp>
        <p:nvSpPr>
          <p:cNvPr id="207" name="Shape 34">
            <a:extLst>
              <a:ext uri="{FF2B5EF4-FFF2-40B4-BE49-F238E27FC236}">
                <a16:creationId xmlns:a16="http://schemas.microsoft.com/office/drawing/2014/main" id="{A2BD4012-CDB3-88EA-B07B-A0D44385AB77}"/>
              </a:ext>
            </a:extLst>
          </p:cNvPr>
          <p:cNvSpPr/>
          <p:nvPr/>
        </p:nvSpPr>
        <p:spPr>
          <a:xfrm>
            <a:off x="4519534" y="1530095"/>
            <a:ext cx="384048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8" name="Shape 35">
            <a:extLst>
              <a:ext uri="{FF2B5EF4-FFF2-40B4-BE49-F238E27FC236}">
                <a16:creationId xmlns:a16="http://schemas.microsoft.com/office/drawing/2014/main" id="{B29F7397-48A4-D9AD-C353-F342A201B643}"/>
              </a:ext>
            </a:extLst>
          </p:cNvPr>
          <p:cNvSpPr/>
          <p:nvPr/>
        </p:nvSpPr>
        <p:spPr>
          <a:xfrm>
            <a:off x="4519535" y="1530095"/>
            <a:ext cx="3590144" cy="256032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209" name="Text 36">
            <a:extLst>
              <a:ext uri="{FF2B5EF4-FFF2-40B4-BE49-F238E27FC236}">
                <a16:creationId xmlns:a16="http://schemas.microsoft.com/office/drawing/2014/main" id="{01681BE2-6B42-941C-4423-87C17E9D9D0C}"/>
              </a:ext>
            </a:extLst>
          </p:cNvPr>
          <p:cNvSpPr/>
          <p:nvPr/>
        </p:nvSpPr>
        <p:spPr>
          <a:xfrm>
            <a:off x="8396590" y="1475231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1100" dirty="0"/>
          </a:p>
        </p:txBody>
      </p:sp>
      <p:sp>
        <p:nvSpPr>
          <p:cNvPr id="210" name="Text 37">
            <a:extLst>
              <a:ext uri="{FF2B5EF4-FFF2-40B4-BE49-F238E27FC236}">
                <a16:creationId xmlns:a16="http://schemas.microsoft.com/office/drawing/2014/main" id="{80B36F8A-ADBA-1BFF-416F-A025FB305335}"/>
              </a:ext>
            </a:extLst>
          </p:cNvPr>
          <p:cNvSpPr/>
          <p:nvPr/>
        </p:nvSpPr>
        <p:spPr>
          <a:xfrm>
            <a:off x="4519534" y="1877567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Scoring</a:t>
            </a:r>
            <a:endParaRPr lang="en-US" sz="1050" dirty="0"/>
          </a:p>
        </p:txBody>
      </p:sp>
      <p:sp>
        <p:nvSpPr>
          <p:cNvPr id="212" name="Shape 38">
            <a:extLst>
              <a:ext uri="{FF2B5EF4-FFF2-40B4-BE49-F238E27FC236}">
                <a16:creationId xmlns:a16="http://schemas.microsoft.com/office/drawing/2014/main" id="{0F8596D1-A804-3357-FD63-DD07FB1C1FB6}"/>
              </a:ext>
            </a:extLst>
          </p:cNvPr>
          <p:cNvSpPr/>
          <p:nvPr/>
        </p:nvSpPr>
        <p:spPr>
          <a:xfrm>
            <a:off x="4519534" y="2188463"/>
            <a:ext cx="384048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3" name="Shape 39">
            <a:extLst>
              <a:ext uri="{FF2B5EF4-FFF2-40B4-BE49-F238E27FC236}">
                <a16:creationId xmlns:a16="http://schemas.microsoft.com/office/drawing/2014/main" id="{833810B6-DD76-7048-B821-3DD89779DBA6}"/>
              </a:ext>
            </a:extLst>
          </p:cNvPr>
          <p:cNvSpPr/>
          <p:nvPr/>
        </p:nvSpPr>
        <p:spPr>
          <a:xfrm>
            <a:off x="4519534" y="2188463"/>
            <a:ext cx="3432748" cy="256032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214" name="Text 40">
            <a:extLst>
              <a:ext uri="{FF2B5EF4-FFF2-40B4-BE49-F238E27FC236}">
                <a16:creationId xmlns:a16="http://schemas.microsoft.com/office/drawing/2014/main" id="{20561E17-3631-007E-5E99-2470B494AEC3}"/>
              </a:ext>
            </a:extLst>
          </p:cNvPr>
          <p:cNvSpPr/>
          <p:nvPr/>
        </p:nvSpPr>
        <p:spPr>
          <a:xfrm>
            <a:off x="8396590" y="2133599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1100" dirty="0"/>
          </a:p>
        </p:txBody>
      </p:sp>
      <p:sp>
        <p:nvSpPr>
          <p:cNvPr id="215" name="Text 41">
            <a:extLst>
              <a:ext uri="{FF2B5EF4-FFF2-40B4-BE49-F238E27FC236}">
                <a16:creationId xmlns:a16="http://schemas.microsoft.com/office/drawing/2014/main" id="{99889068-A982-FDCA-5A48-3716EF13782A}"/>
              </a:ext>
            </a:extLst>
          </p:cNvPr>
          <p:cNvSpPr/>
          <p:nvPr/>
        </p:nvSpPr>
        <p:spPr>
          <a:xfrm>
            <a:off x="4519534" y="2535935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Usefulness</a:t>
            </a:r>
            <a:endParaRPr lang="en-US" sz="1050" dirty="0"/>
          </a:p>
        </p:txBody>
      </p:sp>
      <p:sp>
        <p:nvSpPr>
          <p:cNvPr id="216" name="Shape 42">
            <a:extLst>
              <a:ext uri="{FF2B5EF4-FFF2-40B4-BE49-F238E27FC236}">
                <a16:creationId xmlns:a16="http://schemas.microsoft.com/office/drawing/2014/main" id="{4281485C-AB22-1524-D2DB-1E78578A6438}"/>
              </a:ext>
            </a:extLst>
          </p:cNvPr>
          <p:cNvSpPr/>
          <p:nvPr/>
        </p:nvSpPr>
        <p:spPr>
          <a:xfrm>
            <a:off x="4519534" y="2846831"/>
            <a:ext cx="384048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7" name="Shape 43">
            <a:extLst>
              <a:ext uri="{FF2B5EF4-FFF2-40B4-BE49-F238E27FC236}">
                <a16:creationId xmlns:a16="http://schemas.microsoft.com/office/drawing/2014/main" id="{13EF6C0A-55D0-0420-6813-6069BD20F8ED}"/>
              </a:ext>
            </a:extLst>
          </p:cNvPr>
          <p:cNvSpPr/>
          <p:nvPr/>
        </p:nvSpPr>
        <p:spPr>
          <a:xfrm>
            <a:off x="4519534" y="2846831"/>
            <a:ext cx="3432748" cy="256032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218" name="Text 44">
            <a:extLst>
              <a:ext uri="{FF2B5EF4-FFF2-40B4-BE49-F238E27FC236}">
                <a16:creationId xmlns:a16="http://schemas.microsoft.com/office/drawing/2014/main" id="{99C8FB1E-50E1-89FD-349E-B3E6F8102EF0}"/>
              </a:ext>
            </a:extLst>
          </p:cNvPr>
          <p:cNvSpPr/>
          <p:nvPr/>
        </p:nvSpPr>
        <p:spPr>
          <a:xfrm>
            <a:off x="8396590" y="2791967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1100" dirty="0"/>
          </a:p>
        </p:txBody>
      </p:sp>
      <p:sp>
        <p:nvSpPr>
          <p:cNvPr id="219" name="Text 45">
            <a:extLst>
              <a:ext uri="{FF2B5EF4-FFF2-40B4-BE49-F238E27FC236}">
                <a16:creationId xmlns:a16="http://schemas.microsoft.com/office/drawing/2014/main" id="{BB77BC10-4192-1362-0B19-FEF8098172BA}"/>
              </a:ext>
            </a:extLst>
          </p:cNvPr>
          <p:cNvSpPr/>
          <p:nvPr/>
        </p:nvSpPr>
        <p:spPr>
          <a:xfrm>
            <a:off x="4519534" y="3194303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Use</a:t>
            </a:r>
            <a:endParaRPr lang="en-US" sz="1050" dirty="0"/>
          </a:p>
        </p:txBody>
      </p:sp>
      <p:sp>
        <p:nvSpPr>
          <p:cNvPr id="220" name="Shape 46">
            <a:extLst>
              <a:ext uri="{FF2B5EF4-FFF2-40B4-BE49-F238E27FC236}">
                <a16:creationId xmlns:a16="http://schemas.microsoft.com/office/drawing/2014/main" id="{1B089754-937D-72BC-EDFE-52C9503AB051}"/>
              </a:ext>
            </a:extLst>
          </p:cNvPr>
          <p:cNvSpPr/>
          <p:nvPr/>
        </p:nvSpPr>
        <p:spPr>
          <a:xfrm>
            <a:off x="4519534" y="3505199"/>
            <a:ext cx="384048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1" name="Shape 47">
            <a:extLst>
              <a:ext uri="{FF2B5EF4-FFF2-40B4-BE49-F238E27FC236}">
                <a16:creationId xmlns:a16="http://schemas.microsoft.com/office/drawing/2014/main" id="{8B89473F-4F41-007B-95A5-BA86403CE922}"/>
              </a:ext>
            </a:extLst>
          </p:cNvPr>
          <p:cNvSpPr/>
          <p:nvPr/>
        </p:nvSpPr>
        <p:spPr>
          <a:xfrm>
            <a:off x="4519534" y="3505199"/>
            <a:ext cx="3050499" cy="256032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222" name="Text 48">
            <a:extLst>
              <a:ext uri="{FF2B5EF4-FFF2-40B4-BE49-F238E27FC236}">
                <a16:creationId xmlns:a16="http://schemas.microsoft.com/office/drawing/2014/main" id="{ABED55A6-5D88-E6EC-E830-07C4BB662017}"/>
              </a:ext>
            </a:extLst>
          </p:cNvPr>
          <p:cNvSpPr/>
          <p:nvPr/>
        </p:nvSpPr>
        <p:spPr>
          <a:xfrm>
            <a:off x="8396590" y="3450335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100" dirty="0"/>
          </a:p>
        </p:txBody>
      </p:sp>
      <p:sp>
        <p:nvSpPr>
          <p:cNvPr id="223" name="Text 49">
            <a:extLst>
              <a:ext uri="{FF2B5EF4-FFF2-40B4-BE49-F238E27FC236}">
                <a16:creationId xmlns:a16="http://schemas.microsoft.com/office/drawing/2014/main" id="{4D46849F-0064-4EE2-ACC1-EF931A7864F3}"/>
              </a:ext>
            </a:extLst>
          </p:cNvPr>
          <p:cNvSpPr/>
          <p:nvPr/>
        </p:nvSpPr>
        <p:spPr>
          <a:xfrm>
            <a:off x="4519534" y="3852671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UI</a:t>
            </a:r>
            <a:endParaRPr lang="en-US" sz="1050" dirty="0"/>
          </a:p>
        </p:txBody>
      </p:sp>
      <p:sp>
        <p:nvSpPr>
          <p:cNvPr id="224" name="Shape 50">
            <a:extLst>
              <a:ext uri="{FF2B5EF4-FFF2-40B4-BE49-F238E27FC236}">
                <a16:creationId xmlns:a16="http://schemas.microsoft.com/office/drawing/2014/main" id="{9A37ED47-64A4-E86E-1F8A-B4C7BC3F7B89}"/>
              </a:ext>
            </a:extLst>
          </p:cNvPr>
          <p:cNvSpPr/>
          <p:nvPr/>
        </p:nvSpPr>
        <p:spPr>
          <a:xfrm>
            <a:off x="4519534" y="4163567"/>
            <a:ext cx="384048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5" name="Shape 51">
            <a:extLst>
              <a:ext uri="{FF2B5EF4-FFF2-40B4-BE49-F238E27FC236}">
                <a16:creationId xmlns:a16="http://schemas.microsoft.com/office/drawing/2014/main" id="{305D316E-F549-2645-761E-A3CCB76B19F9}"/>
              </a:ext>
            </a:extLst>
          </p:cNvPr>
          <p:cNvSpPr/>
          <p:nvPr/>
        </p:nvSpPr>
        <p:spPr>
          <a:xfrm>
            <a:off x="4519534" y="4163567"/>
            <a:ext cx="2945568" cy="256032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226" name="Text 52">
            <a:extLst>
              <a:ext uri="{FF2B5EF4-FFF2-40B4-BE49-F238E27FC236}">
                <a16:creationId xmlns:a16="http://schemas.microsoft.com/office/drawing/2014/main" id="{68B8B336-ED6A-EAB6-D65F-59113321AFE8}"/>
              </a:ext>
            </a:extLst>
          </p:cNvPr>
          <p:cNvSpPr/>
          <p:nvPr/>
        </p:nvSpPr>
        <p:spPr>
          <a:xfrm>
            <a:off x="8396590" y="4108703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74506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210">
          <a:extLst>
            <a:ext uri="{FF2B5EF4-FFF2-40B4-BE49-F238E27FC236}">
              <a16:creationId xmlns:a16="http://schemas.microsoft.com/office/drawing/2014/main" id="{50E4B182-E54B-B80D-0E62-0A9198B4D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>
            <a:extLst>
              <a:ext uri="{FF2B5EF4-FFF2-40B4-BE49-F238E27FC236}">
                <a16:creationId xmlns:a16="http://schemas.microsoft.com/office/drawing/2014/main" id="{2C5A57EE-AFEF-86BA-365F-0C09EF70CC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331600" cy="5818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4E630"/>
                </a:solidFill>
                <a:highlight>
                  <a:srgbClr val="0000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8.</a:t>
            </a:r>
            <a:r>
              <a:rPr lang="e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" sz="2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Evaluation</a:t>
            </a:r>
            <a:endParaRPr sz="24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BE8807-C8DD-6AAE-0589-54A20D80C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347BC81A-AB84-F8C4-4C15-DEECFF957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927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0885E363-C5F1-E2AB-C3C5-6B096EF80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389A9EE1-E329-0DBC-3277-8E54447E1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A5FA4394-06F9-EF1F-3034-402BA180B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602085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B7752452-DFD3-A3B8-59C1-B3A98FE22E34}"/>
              </a:ext>
            </a:extLst>
          </p:cNvPr>
          <p:cNvSpPr/>
          <p:nvPr/>
        </p:nvSpPr>
        <p:spPr>
          <a:xfrm>
            <a:off x="441708" y="826463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Fully Implemented</a:t>
            </a:r>
            <a:endParaRPr lang="en-US" sz="1400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80EBC627-0BE5-4FB1-AE5C-899A35FCB1A5}"/>
              </a:ext>
            </a:extLst>
          </p:cNvPr>
          <p:cNvSpPr/>
          <p:nvPr/>
        </p:nvSpPr>
        <p:spPr>
          <a:xfrm>
            <a:off x="441708" y="1206726"/>
            <a:ext cx="4130292" cy="2042119"/>
          </a:xfrm>
          <a:prstGeom prst="rect">
            <a:avLst/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DDAAA281-992C-4E28-022F-3AD404BF7828}"/>
              </a:ext>
            </a:extLst>
          </p:cNvPr>
          <p:cNvSpPr/>
          <p:nvPr/>
        </p:nvSpPr>
        <p:spPr>
          <a:xfrm>
            <a:off x="566928" y="1306061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Core Functional Requirements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95CD038-3F47-7458-066F-47289AC43B96}"/>
              </a:ext>
            </a:extLst>
          </p:cNvPr>
          <p:cNvSpPr/>
          <p:nvPr/>
        </p:nvSpPr>
        <p:spPr>
          <a:xfrm>
            <a:off x="457200" y="3444240"/>
            <a:ext cx="4114800" cy="1394460"/>
          </a:xfrm>
          <a:prstGeom prst="rect">
            <a:avLst/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4FB204C-F92E-94E1-D948-D77938F72024}"/>
              </a:ext>
            </a:extLst>
          </p:cNvPr>
          <p:cNvSpPr/>
          <p:nvPr/>
        </p:nvSpPr>
        <p:spPr>
          <a:xfrm>
            <a:off x="566928" y="3539921"/>
            <a:ext cx="512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Non-Functional Requirements</a:t>
            </a:r>
            <a:endParaRPr lang="en-US" sz="110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4174E3A2-BE51-87C1-4B72-ABC9F67D5F1A}"/>
              </a:ext>
            </a:extLst>
          </p:cNvPr>
          <p:cNvSpPr/>
          <p:nvPr/>
        </p:nvSpPr>
        <p:spPr>
          <a:xfrm>
            <a:off x="4983480" y="1206726"/>
            <a:ext cx="3794760" cy="1155431"/>
          </a:xfrm>
          <a:prstGeom prst="rect">
            <a:avLst/>
          </a:prstGeom>
          <a:solidFill>
            <a:srgbClr val="FFF9C4"/>
          </a:solidFill>
          <a:ln w="19050">
            <a:solidFill>
              <a:srgbClr val="FFD50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B3B63A85-7A82-2276-2BE9-C0CCB426C6E7}"/>
              </a:ext>
            </a:extLst>
          </p:cNvPr>
          <p:cNvSpPr/>
          <p:nvPr/>
        </p:nvSpPr>
        <p:spPr>
          <a:xfrm>
            <a:off x="4983480" y="81893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Partially Implemented</a:t>
            </a:r>
            <a:endParaRPr lang="en-US" sz="1400" dirty="0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60A5227F-AA57-D8F9-48B3-361CED433428}"/>
              </a:ext>
            </a:extLst>
          </p:cNvPr>
          <p:cNvSpPr/>
          <p:nvPr/>
        </p:nvSpPr>
        <p:spPr>
          <a:xfrm>
            <a:off x="5149737" y="157248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Beta AI — needs more data</a:t>
            </a:r>
            <a:endParaRPr lang="en-US" sz="10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3A156C20-E15F-0180-952F-365588B0F80E}"/>
              </a:ext>
            </a:extLst>
          </p:cNvPr>
          <p:cNvSpPr/>
          <p:nvPr/>
        </p:nvSpPr>
        <p:spPr>
          <a:xfrm>
            <a:off x="7115697" y="157248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full user verification</a:t>
            </a:r>
            <a:endParaRPr lang="en-US" sz="1000" dirty="0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264D3829-EF45-4A01-D4A2-25BFB6E54940}"/>
              </a:ext>
            </a:extLst>
          </p:cNvPr>
          <p:cNvSpPr/>
          <p:nvPr/>
        </p:nvSpPr>
        <p:spPr>
          <a:xfrm>
            <a:off x="5149737" y="189252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Desktop only (no mobile)</a:t>
            </a:r>
            <a:endParaRPr lang="en-US" sz="1000" dirty="0"/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BB5F7B77-B486-9960-EE29-B84BEC37CF3B}"/>
              </a:ext>
            </a:extLst>
          </p:cNvPr>
          <p:cNvSpPr/>
          <p:nvPr/>
        </p:nvSpPr>
        <p:spPr>
          <a:xfrm>
            <a:off x="7115697" y="189252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UI Tested in Chrome</a:t>
            </a:r>
            <a:endParaRPr lang="en-US" sz="1000" dirty="0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71DA4C55-EABA-02ED-2F64-7185C419B4D5}"/>
              </a:ext>
            </a:extLst>
          </p:cNvPr>
          <p:cNvSpPr/>
          <p:nvPr/>
        </p:nvSpPr>
        <p:spPr>
          <a:xfrm>
            <a:off x="5143500" y="1287359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Known Limitations</a:t>
            </a:r>
            <a:endParaRPr lang="en-US" sz="1100" dirty="0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EFA49812-4FA2-7D7D-4F9B-7433D09E4C8F}"/>
              </a:ext>
            </a:extLst>
          </p:cNvPr>
          <p:cNvSpPr txBox="1"/>
          <p:nvPr/>
        </p:nvSpPr>
        <p:spPr>
          <a:xfrm>
            <a:off x="457200" y="1634963"/>
            <a:ext cx="1758948" cy="1521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169863" algn="just">
              <a:lnSpc>
                <a:spcPct val="150000"/>
              </a:lnSpc>
              <a:buClr>
                <a:schemeClr val="bg2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Registration/Login</a:t>
            </a:r>
          </a:p>
          <a:p>
            <a:pPr marL="285750" lvl="0" indent="-169863" algn="just">
              <a:lnSpc>
                <a:spcPct val="150000"/>
              </a:lnSpc>
              <a:buClr>
                <a:schemeClr val="bg2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Quiz Onboarding</a:t>
            </a:r>
          </a:p>
          <a:p>
            <a:pPr marL="285750" lvl="0" indent="-169863" algn="just">
              <a:lnSpc>
                <a:spcPct val="150000"/>
              </a:lnSpc>
              <a:buClr>
                <a:schemeClr val="bg2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Profile</a:t>
            </a:r>
          </a:p>
          <a:p>
            <a:pPr marL="285750" lvl="0" indent="-169863" algn="just">
              <a:lnSpc>
                <a:spcPct val="150000"/>
              </a:lnSpc>
              <a:buClr>
                <a:schemeClr val="bg2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Private Profile</a:t>
            </a:r>
          </a:p>
          <a:p>
            <a:pPr marL="285750" lvl="0" indent="-169863" algn="just">
              <a:lnSpc>
                <a:spcPct val="150000"/>
              </a:lnSpc>
              <a:buClr>
                <a:schemeClr val="bg2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Compatibility Scoring</a:t>
            </a:r>
          </a:p>
          <a:p>
            <a:pPr marL="285750" lvl="0" indent="-169863" algn="just">
              <a:lnSpc>
                <a:spcPct val="150000"/>
              </a:lnSpc>
              <a:buClr>
                <a:schemeClr val="bg2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Ranked Discover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9A81EF26-D6DD-01DE-E9C3-E8390B6D4C4F}"/>
              </a:ext>
            </a:extLst>
          </p:cNvPr>
          <p:cNvSpPr txBox="1"/>
          <p:nvPr/>
        </p:nvSpPr>
        <p:spPr>
          <a:xfrm>
            <a:off x="2506854" y="1634962"/>
            <a:ext cx="1758948" cy="1521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169863" algn="just">
              <a:lnSpc>
                <a:spcPct val="150000"/>
              </a:lnSpc>
              <a:buClr>
                <a:schemeClr val="bg2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Card Browsing</a:t>
            </a:r>
          </a:p>
          <a:p>
            <a:pPr marL="285750" lvl="0" indent="-169863" algn="just">
              <a:lnSpc>
                <a:spcPct val="150000"/>
              </a:lnSpc>
              <a:buClr>
                <a:schemeClr val="bg2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Like/Pass</a:t>
            </a:r>
          </a:p>
          <a:p>
            <a:pPr marL="285750" lvl="0" indent="-169863" algn="just">
              <a:lnSpc>
                <a:spcPct val="150000"/>
              </a:lnSpc>
              <a:buClr>
                <a:schemeClr val="bg2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Mutual Matching</a:t>
            </a:r>
          </a:p>
          <a:p>
            <a:pPr marL="285750" lvl="0" indent="-169863" algn="just">
              <a:lnSpc>
                <a:spcPct val="150000"/>
              </a:lnSpc>
              <a:buClr>
                <a:schemeClr val="bg2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In-app Messaging</a:t>
            </a:r>
          </a:p>
          <a:p>
            <a:pPr marL="285750" lvl="0" indent="-169863" algn="just">
              <a:lnSpc>
                <a:spcPct val="150000"/>
              </a:lnSpc>
              <a:buClr>
                <a:schemeClr val="bg2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Listing Management</a:t>
            </a:r>
          </a:p>
          <a:p>
            <a:pPr marL="285750" lvl="0" indent="-169863" algn="just">
              <a:lnSpc>
                <a:spcPct val="150000"/>
              </a:lnSpc>
              <a:buClr>
                <a:schemeClr val="bg2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Private Sharing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0DD08DD0-4F80-D5F2-EE9A-D66669A1C200}"/>
              </a:ext>
            </a:extLst>
          </p:cNvPr>
          <p:cNvSpPr txBox="1"/>
          <p:nvPr/>
        </p:nvSpPr>
        <p:spPr>
          <a:xfrm>
            <a:off x="457200" y="3737245"/>
            <a:ext cx="1758948" cy="1036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169863" algn="just">
              <a:lnSpc>
                <a:spcPct val="150000"/>
              </a:lnSpc>
              <a:buClr>
                <a:schemeClr val="bg2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Password Hashing</a:t>
            </a:r>
          </a:p>
          <a:p>
            <a:pPr marL="285750" lvl="0" indent="-169863" algn="just">
              <a:lnSpc>
                <a:spcPct val="150000"/>
              </a:lnSpc>
              <a:buClr>
                <a:schemeClr val="bg2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CAPTCHA Protection</a:t>
            </a:r>
          </a:p>
          <a:p>
            <a:pPr marL="285750" lvl="0" indent="-169863" algn="just">
              <a:lnSpc>
                <a:spcPct val="150000"/>
              </a:lnSpc>
              <a:buClr>
                <a:schemeClr val="bg2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Separation</a:t>
            </a:r>
          </a:p>
          <a:p>
            <a:pPr marL="285750" lvl="0" indent="-169863" algn="just">
              <a:lnSpc>
                <a:spcPct val="150000"/>
              </a:lnSpc>
              <a:buClr>
                <a:schemeClr val="bg2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Reliable Storage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1F35CAC4-4EAE-E659-D81A-006E510D5946}"/>
              </a:ext>
            </a:extLst>
          </p:cNvPr>
          <p:cNvSpPr txBox="1"/>
          <p:nvPr/>
        </p:nvSpPr>
        <p:spPr>
          <a:xfrm>
            <a:off x="2514600" y="3737244"/>
            <a:ext cx="1758948" cy="1036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169863" algn="just">
              <a:lnSpc>
                <a:spcPct val="150000"/>
              </a:lnSpc>
              <a:buClr>
                <a:schemeClr val="bg2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Prototype Performance</a:t>
            </a:r>
          </a:p>
          <a:p>
            <a:pPr marL="285750" lvl="0" indent="-169863" algn="just">
              <a:lnSpc>
                <a:spcPct val="150000"/>
              </a:lnSpc>
              <a:buClr>
                <a:schemeClr val="bg2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MVC Structure</a:t>
            </a:r>
          </a:p>
          <a:p>
            <a:pPr marL="285750" lvl="0" indent="-169863" algn="just">
              <a:lnSpc>
                <a:spcPct val="150000"/>
              </a:lnSpc>
              <a:buClr>
                <a:schemeClr val="bg2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Desktop Interface</a:t>
            </a:r>
          </a:p>
          <a:p>
            <a:pPr marL="285750" lvl="0" indent="-169863" algn="just">
              <a:lnSpc>
                <a:spcPct val="150000"/>
              </a:lnSpc>
              <a:buClr>
                <a:schemeClr val="bg2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Privacy Control</a:t>
            </a:r>
          </a:p>
        </p:txBody>
      </p:sp>
      <p:sp>
        <p:nvSpPr>
          <p:cNvPr id="199" name="Shape 8">
            <a:extLst>
              <a:ext uri="{FF2B5EF4-FFF2-40B4-BE49-F238E27FC236}">
                <a16:creationId xmlns:a16="http://schemas.microsoft.com/office/drawing/2014/main" id="{77378614-E407-E259-F708-D3557D46784C}"/>
              </a:ext>
            </a:extLst>
          </p:cNvPr>
          <p:cNvSpPr/>
          <p:nvPr/>
        </p:nvSpPr>
        <p:spPr>
          <a:xfrm>
            <a:off x="4983480" y="2827981"/>
            <a:ext cx="3794760" cy="8052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60000"/>
                <a:lumOff val="40000"/>
              </a:schemeClr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0" name="Text 11">
            <a:extLst>
              <a:ext uri="{FF2B5EF4-FFF2-40B4-BE49-F238E27FC236}">
                <a16:creationId xmlns:a16="http://schemas.microsoft.com/office/drawing/2014/main" id="{4FE64AFA-56F8-85C3-A1C9-DC8FAC7EF23D}"/>
              </a:ext>
            </a:extLst>
          </p:cNvPr>
          <p:cNvSpPr/>
          <p:nvPr/>
        </p:nvSpPr>
        <p:spPr>
          <a:xfrm>
            <a:off x="4983480" y="244279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Implemented</a:t>
            </a:r>
            <a:endParaRPr lang="en-US" sz="1400" dirty="0"/>
          </a:p>
        </p:txBody>
      </p:sp>
      <p:sp>
        <p:nvSpPr>
          <p:cNvPr id="201" name="Text 12">
            <a:extLst>
              <a:ext uri="{FF2B5EF4-FFF2-40B4-BE49-F238E27FC236}">
                <a16:creationId xmlns:a16="http://schemas.microsoft.com/office/drawing/2014/main" id="{F2D58E8D-24D4-B935-B27D-2BBB393302FE}"/>
              </a:ext>
            </a:extLst>
          </p:cNvPr>
          <p:cNvSpPr/>
          <p:nvPr/>
        </p:nvSpPr>
        <p:spPr>
          <a:xfrm>
            <a:off x="5149737" y="319633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Collaborative Room Planning</a:t>
            </a:r>
            <a:endParaRPr lang="en-US" sz="1000" dirty="0"/>
          </a:p>
        </p:txBody>
      </p:sp>
      <p:sp>
        <p:nvSpPr>
          <p:cNvPr id="205" name="Text 9">
            <a:extLst>
              <a:ext uri="{FF2B5EF4-FFF2-40B4-BE49-F238E27FC236}">
                <a16:creationId xmlns:a16="http://schemas.microsoft.com/office/drawing/2014/main" id="{F70C6B70-BA2B-EB83-9A41-3F35D4F35EF5}"/>
              </a:ext>
            </a:extLst>
          </p:cNvPr>
          <p:cNvSpPr/>
          <p:nvPr/>
        </p:nvSpPr>
        <p:spPr>
          <a:xfrm>
            <a:off x="5143500" y="2911211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Deferred Ideas </a:t>
            </a:r>
            <a:endParaRPr lang="en-US" sz="1100" dirty="0"/>
          </a:p>
        </p:txBody>
      </p:sp>
      <p:sp>
        <p:nvSpPr>
          <p:cNvPr id="206" name="Text 12">
            <a:extLst>
              <a:ext uri="{FF2B5EF4-FFF2-40B4-BE49-F238E27FC236}">
                <a16:creationId xmlns:a16="http://schemas.microsoft.com/office/drawing/2014/main" id="{CE57E41B-4417-500A-9772-52C9AF1A022B}"/>
              </a:ext>
            </a:extLst>
          </p:cNvPr>
          <p:cNvSpPr/>
          <p:nvPr/>
        </p:nvSpPr>
        <p:spPr>
          <a:xfrm>
            <a:off x="7115697" y="3198227"/>
            <a:ext cx="15375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Tag System</a:t>
            </a:r>
            <a:endParaRPr lang="en-US" sz="1000" dirty="0"/>
          </a:p>
        </p:txBody>
      </p:sp>
      <p:sp>
        <p:nvSpPr>
          <p:cNvPr id="207" name="Shape 47">
            <a:extLst>
              <a:ext uri="{FF2B5EF4-FFF2-40B4-BE49-F238E27FC236}">
                <a16:creationId xmlns:a16="http://schemas.microsoft.com/office/drawing/2014/main" id="{4BE9794B-1B07-4F61-941D-6A6F3350BEC2}"/>
              </a:ext>
            </a:extLst>
          </p:cNvPr>
          <p:cNvSpPr/>
          <p:nvPr/>
        </p:nvSpPr>
        <p:spPr>
          <a:xfrm>
            <a:off x="5025318" y="4047745"/>
            <a:ext cx="2814137" cy="674795"/>
          </a:xfrm>
          <a:prstGeom prst="rect">
            <a:avLst/>
          </a:prstGeom>
          <a:solidFill>
            <a:srgbClr val="86EFAC"/>
          </a:solidFill>
          <a:ln w="12700">
            <a:noFill/>
            <a:prstDash val="solid"/>
          </a:ln>
        </p:spPr>
      </p:sp>
      <p:sp>
        <p:nvSpPr>
          <p:cNvPr id="208" name="Shape 47">
            <a:extLst>
              <a:ext uri="{FF2B5EF4-FFF2-40B4-BE49-F238E27FC236}">
                <a16:creationId xmlns:a16="http://schemas.microsoft.com/office/drawing/2014/main" id="{6DB17CA5-835E-AC2D-1B81-E1165466CFBC}"/>
              </a:ext>
            </a:extLst>
          </p:cNvPr>
          <p:cNvSpPr/>
          <p:nvPr/>
        </p:nvSpPr>
        <p:spPr>
          <a:xfrm>
            <a:off x="7888224" y="4045478"/>
            <a:ext cx="542544" cy="674795"/>
          </a:xfrm>
          <a:prstGeom prst="rect">
            <a:avLst/>
          </a:prstGeom>
          <a:solidFill>
            <a:srgbClr val="FFD500"/>
          </a:solidFill>
          <a:ln w="12700">
            <a:noFill/>
            <a:prstDash val="solid"/>
          </a:ln>
        </p:spPr>
      </p:sp>
      <p:sp>
        <p:nvSpPr>
          <p:cNvPr id="209" name="Shape 47">
            <a:extLst>
              <a:ext uri="{FF2B5EF4-FFF2-40B4-BE49-F238E27FC236}">
                <a16:creationId xmlns:a16="http://schemas.microsoft.com/office/drawing/2014/main" id="{22A3EFA8-5862-ED2C-2178-FB5B2A5CAFD9}"/>
              </a:ext>
            </a:extLst>
          </p:cNvPr>
          <p:cNvSpPr/>
          <p:nvPr/>
        </p:nvSpPr>
        <p:spPr>
          <a:xfrm>
            <a:off x="8479536" y="4045478"/>
            <a:ext cx="298704" cy="674795"/>
          </a:xfrm>
          <a:prstGeom prst="rect">
            <a:avLst/>
          </a:prstGeom>
          <a:solidFill>
            <a:srgbClr val="FF0000"/>
          </a:solidFill>
          <a:ln w="1270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3693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210">
          <a:extLst>
            <a:ext uri="{FF2B5EF4-FFF2-40B4-BE49-F238E27FC236}">
              <a16:creationId xmlns:a16="http://schemas.microsoft.com/office/drawing/2014/main" id="{1A6763EE-4D3E-B96E-C817-DDB7C9732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>
            <a:extLst>
              <a:ext uri="{FF2B5EF4-FFF2-40B4-BE49-F238E27FC236}">
                <a16:creationId xmlns:a16="http://schemas.microsoft.com/office/drawing/2014/main" id="{FCE21F20-B618-6D94-121E-D5EA74BF54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331600" cy="5818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4E630"/>
                </a:solidFill>
                <a:highlight>
                  <a:srgbClr val="0000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8.</a:t>
            </a:r>
            <a:r>
              <a:rPr lang="e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" sz="24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Testing &amp; </a:t>
            </a:r>
            <a:r>
              <a:rPr lang="en" sz="2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Evaluation</a:t>
            </a:r>
            <a:endParaRPr sz="24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E07504-B162-AD70-A31A-C0A16247B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EBCA9F73-BDFD-7F15-2735-F345FBF30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927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D2BE34AD-1218-CD54-73E3-6E2F9ED57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FF213C71-C2AE-35A3-FB8E-E71685DF4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1D9AB7-D176-FDCD-F159-2E9358E38B98}"/>
              </a:ext>
            </a:extLst>
          </p:cNvPr>
          <p:cNvSpPr txBox="1"/>
          <p:nvPr/>
        </p:nvSpPr>
        <p:spPr>
          <a:xfrm>
            <a:off x="3759421" y="333345"/>
            <a:ext cx="2112854" cy="400110"/>
          </a:xfrm>
          <a:prstGeom prst="rect">
            <a:avLst/>
          </a:prstGeom>
          <a:solidFill>
            <a:srgbClr val="0070C0"/>
          </a:solidFill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6"/>
                </a:solidFill>
                <a:latin typeface="Space Mono"/>
                <a:ea typeface="Space Mono"/>
                <a:cs typeface="Space Mono"/>
                <a:sym typeface="Space Mono"/>
              </a:rPr>
              <a:t>Future Work</a:t>
            </a:r>
          </a:p>
        </p:txBody>
      </p:sp>
      <p:sp>
        <p:nvSpPr>
          <p:cNvPr id="2" name="Google Shape;219;p33">
            <a:extLst>
              <a:ext uri="{FF2B5EF4-FFF2-40B4-BE49-F238E27FC236}">
                <a16:creationId xmlns:a16="http://schemas.microsoft.com/office/drawing/2014/main" id="{12305DEC-7743-ED6B-FBD9-F0893873863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1587" y="1902826"/>
            <a:ext cx="2458458" cy="101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dirty="0"/>
              <a:t>Searchable tags to improve browsing and user discovery.</a:t>
            </a:r>
            <a:endParaRPr dirty="0"/>
          </a:p>
        </p:txBody>
      </p:sp>
      <p:sp>
        <p:nvSpPr>
          <p:cNvPr id="3" name="Google Shape;220;p33">
            <a:extLst>
              <a:ext uri="{FF2B5EF4-FFF2-40B4-BE49-F238E27FC236}">
                <a16:creationId xmlns:a16="http://schemas.microsoft.com/office/drawing/2014/main" id="{EFF3B1B0-E20A-3066-873E-4B7AE3097E5D}"/>
              </a:ext>
            </a:extLst>
          </p:cNvPr>
          <p:cNvSpPr txBox="1">
            <a:spLocks/>
          </p:cNvSpPr>
          <p:nvPr/>
        </p:nvSpPr>
        <p:spPr>
          <a:xfrm>
            <a:off x="3267375" y="1960893"/>
            <a:ext cx="2606400" cy="8498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200"/>
            </a:pPr>
            <a:r>
              <a:rPr lang="en-US" sz="1200" dirty="0">
                <a:solidFill>
                  <a:schemeClr val="dk1"/>
                </a:solidFill>
                <a:latin typeface="Space Mono"/>
                <a:sym typeface="Space Mono"/>
              </a:rPr>
              <a:t>Allow matched users to collaborate and search listings</a:t>
            </a:r>
          </a:p>
        </p:txBody>
      </p:sp>
      <p:sp>
        <p:nvSpPr>
          <p:cNvPr id="4" name="Google Shape;221;p33">
            <a:extLst>
              <a:ext uri="{FF2B5EF4-FFF2-40B4-BE49-F238E27FC236}">
                <a16:creationId xmlns:a16="http://schemas.microsoft.com/office/drawing/2014/main" id="{FC7ED095-4BE3-773D-73C4-C4727AA6B30C}"/>
              </a:ext>
            </a:extLst>
          </p:cNvPr>
          <p:cNvSpPr txBox="1">
            <a:spLocks/>
          </p:cNvSpPr>
          <p:nvPr/>
        </p:nvSpPr>
        <p:spPr>
          <a:xfrm>
            <a:off x="225592" y="3981987"/>
            <a:ext cx="2393688" cy="8808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200"/>
            </a:pPr>
            <a:r>
              <a:rPr lang="en-US" sz="1200" dirty="0">
                <a:solidFill>
                  <a:schemeClr val="dk1"/>
                </a:solidFill>
                <a:latin typeface="Space Mono"/>
                <a:sym typeface="Space Mono"/>
              </a:rPr>
              <a:t>Use email or phone OTP verification to reduce fake accounts.</a:t>
            </a:r>
          </a:p>
        </p:txBody>
      </p:sp>
      <p:sp>
        <p:nvSpPr>
          <p:cNvPr id="5" name="Google Shape;222;p33">
            <a:extLst>
              <a:ext uri="{FF2B5EF4-FFF2-40B4-BE49-F238E27FC236}">
                <a16:creationId xmlns:a16="http://schemas.microsoft.com/office/drawing/2014/main" id="{4F657DF0-B692-8826-E5C2-2B980177D499}"/>
              </a:ext>
            </a:extLst>
          </p:cNvPr>
          <p:cNvSpPr txBox="1">
            <a:spLocks/>
          </p:cNvSpPr>
          <p:nvPr/>
        </p:nvSpPr>
        <p:spPr>
          <a:xfrm>
            <a:off x="3267375" y="3850896"/>
            <a:ext cx="2606400" cy="101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200"/>
            </a:pPr>
            <a:r>
              <a:rPr lang="en-US" sz="1200" dirty="0">
                <a:solidFill>
                  <a:schemeClr val="dk1"/>
                </a:solidFill>
                <a:latin typeface="Space Mono"/>
                <a:sym typeface="Space Mono"/>
              </a:rPr>
              <a:t>Train the beta AI model with more quality and balanced data</a:t>
            </a:r>
          </a:p>
        </p:txBody>
      </p:sp>
      <p:sp>
        <p:nvSpPr>
          <p:cNvPr id="7" name="Google Shape;223;p33">
            <a:extLst>
              <a:ext uri="{FF2B5EF4-FFF2-40B4-BE49-F238E27FC236}">
                <a16:creationId xmlns:a16="http://schemas.microsoft.com/office/drawing/2014/main" id="{01255B78-8904-BFE8-C8C4-158B0B22E6C0}"/>
              </a:ext>
            </a:extLst>
          </p:cNvPr>
          <p:cNvSpPr txBox="1">
            <a:spLocks/>
          </p:cNvSpPr>
          <p:nvPr/>
        </p:nvSpPr>
        <p:spPr>
          <a:xfrm>
            <a:off x="231587" y="1333350"/>
            <a:ext cx="2603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latin typeface="Space Mono" panose="020B0604020202020204" charset="0"/>
              </a:rPr>
              <a:t>Tag System</a:t>
            </a:r>
          </a:p>
        </p:txBody>
      </p:sp>
      <p:sp>
        <p:nvSpPr>
          <p:cNvPr id="8" name="Google Shape;224;p33">
            <a:extLst>
              <a:ext uri="{FF2B5EF4-FFF2-40B4-BE49-F238E27FC236}">
                <a16:creationId xmlns:a16="http://schemas.microsoft.com/office/drawing/2014/main" id="{3336360C-DCF5-C6DE-D85B-9152FD7793A1}"/>
              </a:ext>
            </a:extLst>
          </p:cNvPr>
          <p:cNvSpPr txBox="1">
            <a:spLocks/>
          </p:cNvSpPr>
          <p:nvPr/>
        </p:nvSpPr>
        <p:spPr>
          <a:xfrm>
            <a:off x="3265871" y="1516009"/>
            <a:ext cx="2467461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latin typeface="Space Mono" panose="020B0604020202020204" charset="0"/>
              </a:rPr>
              <a:t>Shared Listing Planning</a:t>
            </a:r>
          </a:p>
        </p:txBody>
      </p:sp>
      <p:sp>
        <p:nvSpPr>
          <p:cNvPr id="9" name="Google Shape;225;p33">
            <a:extLst>
              <a:ext uri="{FF2B5EF4-FFF2-40B4-BE49-F238E27FC236}">
                <a16:creationId xmlns:a16="http://schemas.microsoft.com/office/drawing/2014/main" id="{32FA1120-A1BE-0811-773D-BAEC47B7CDAE}"/>
              </a:ext>
            </a:extLst>
          </p:cNvPr>
          <p:cNvSpPr txBox="1">
            <a:spLocks/>
          </p:cNvSpPr>
          <p:nvPr/>
        </p:nvSpPr>
        <p:spPr>
          <a:xfrm>
            <a:off x="6309150" y="1333350"/>
            <a:ext cx="2603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latin typeface="Space Mono" panose="020B0604020202020204" charset="0"/>
              </a:rPr>
              <a:t>Inbox Notification</a:t>
            </a:r>
          </a:p>
        </p:txBody>
      </p:sp>
      <p:sp>
        <p:nvSpPr>
          <p:cNvPr id="14" name="Google Shape;226;p33">
            <a:extLst>
              <a:ext uri="{FF2B5EF4-FFF2-40B4-BE49-F238E27FC236}">
                <a16:creationId xmlns:a16="http://schemas.microsoft.com/office/drawing/2014/main" id="{C2045B23-F6FF-BFE2-6033-62A46FC26832}"/>
              </a:ext>
            </a:extLst>
          </p:cNvPr>
          <p:cNvSpPr txBox="1">
            <a:spLocks/>
          </p:cNvSpPr>
          <p:nvPr/>
        </p:nvSpPr>
        <p:spPr>
          <a:xfrm>
            <a:off x="6309158" y="1902826"/>
            <a:ext cx="2290736" cy="101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200"/>
            </a:pPr>
            <a:r>
              <a:rPr lang="en-US" sz="1200" dirty="0">
                <a:solidFill>
                  <a:schemeClr val="dk1"/>
                </a:solidFill>
                <a:latin typeface="Space Mono"/>
                <a:sym typeface="Space Mono"/>
              </a:rPr>
              <a:t>Notify users for new activity in the system.</a:t>
            </a:r>
          </a:p>
        </p:txBody>
      </p:sp>
      <p:sp>
        <p:nvSpPr>
          <p:cNvPr id="16" name="Google Shape;227;p33">
            <a:extLst>
              <a:ext uri="{FF2B5EF4-FFF2-40B4-BE49-F238E27FC236}">
                <a16:creationId xmlns:a16="http://schemas.microsoft.com/office/drawing/2014/main" id="{2D3EE2A0-2816-64DE-B753-264D38694E99}"/>
              </a:ext>
            </a:extLst>
          </p:cNvPr>
          <p:cNvSpPr txBox="1">
            <a:spLocks/>
          </p:cNvSpPr>
          <p:nvPr/>
        </p:nvSpPr>
        <p:spPr>
          <a:xfrm>
            <a:off x="6340253" y="3850896"/>
            <a:ext cx="2433453" cy="101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200"/>
            </a:pPr>
            <a:r>
              <a:rPr lang="en-US" sz="1200" dirty="0">
                <a:solidFill>
                  <a:schemeClr val="dk1"/>
                </a:solidFill>
                <a:latin typeface="Space Mono"/>
                <a:sym typeface="Space Mono"/>
              </a:rPr>
              <a:t>Develop a mobile version or app for and convenience.</a:t>
            </a:r>
          </a:p>
        </p:txBody>
      </p:sp>
      <p:sp>
        <p:nvSpPr>
          <p:cNvPr id="17" name="Google Shape;228;p33">
            <a:extLst>
              <a:ext uri="{FF2B5EF4-FFF2-40B4-BE49-F238E27FC236}">
                <a16:creationId xmlns:a16="http://schemas.microsoft.com/office/drawing/2014/main" id="{2F070C5C-4E4E-07BC-E976-11F35585EC6E}"/>
              </a:ext>
            </a:extLst>
          </p:cNvPr>
          <p:cNvSpPr txBox="1">
            <a:spLocks/>
          </p:cNvSpPr>
          <p:nvPr/>
        </p:nvSpPr>
        <p:spPr>
          <a:xfrm>
            <a:off x="225592" y="3484731"/>
            <a:ext cx="2606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latin typeface="Space Mono" panose="020B0604020202020204" charset="0"/>
              </a:rPr>
              <a:t>Stronger </a:t>
            </a:r>
          </a:p>
          <a:p>
            <a:r>
              <a:rPr lang="en-US" b="1" dirty="0">
                <a:latin typeface="Space Mono" panose="020B0604020202020204" charset="0"/>
              </a:rPr>
              <a:t>Verification</a:t>
            </a:r>
          </a:p>
        </p:txBody>
      </p:sp>
      <p:sp>
        <p:nvSpPr>
          <p:cNvPr id="21" name="Google Shape;229;p33">
            <a:extLst>
              <a:ext uri="{FF2B5EF4-FFF2-40B4-BE49-F238E27FC236}">
                <a16:creationId xmlns:a16="http://schemas.microsoft.com/office/drawing/2014/main" id="{1F236794-670B-EFAA-5296-60AD92EE4CDC}"/>
              </a:ext>
            </a:extLst>
          </p:cNvPr>
          <p:cNvSpPr txBox="1">
            <a:spLocks/>
          </p:cNvSpPr>
          <p:nvPr/>
        </p:nvSpPr>
        <p:spPr>
          <a:xfrm>
            <a:off x="3268875" y="3336670"/>
            <a:ext cx="2603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latin typeface="Space Mono" panose="020B0604020202020204" charset="0"/>
              </a:rPr>
              <a:t>Improved AI Model</a:t>
            </a:r>
          </a:p>
        </p:txBody>
      </p:sp>
      <p:sp>
        <p:nvSpPr>
          <p:cNvPr id="23" name="Google Shape;230;p33">
            <a:extLst>
              <a:ext uri="{FF2B5EF4-FFF2-40B4-BE49-F238E27FC236}">
                <a16:creationId xmlns:a16="http://schemas.microsoft.com/office/drawing/2014/main" id="{664C961E-4850-38A3-BFBE-B38DAEB073AE}"/>
              </a:ext>
            </a:extLst>
          </p:cNvPr>
          <p:cNvSpPr txBox="1">
            <a:spLocks/>
          </p:cNvSpPr>
          <p:nvPr/>
        </p:nvSpPr>
        <p:spPr>
          <a:xfrm>
            <a:off x="6309150" y="3327676"/>
            <a:ext cx="2603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latin typeface="Space Mono" panose="020B0604020202020204" charset="0"/>
              </a:rPr>
              <a:t>Mobile Version</a:t>
            </a:r>
          </a:p>
        </p:txBody>
      </p:sp>
      <p:sp>
        <p:nvSpPr>
          <p:cNvPr id="26" name="Google Shape;231;p33">
            <a:extLst>
              <a:ext uri="{FF2B5EF4-FFF2-40B4-BE49-F238E27FC236}">
                <a16:creationId xmlns:a16="http://schemas.microsoft.com/office/drawing/2014/main" id="{39BCEFB2-1242-1678-B90F-A605AAD102EB}"/>
              </a:ext>
            </a:extLst>
          </p:cNvPr>
          <p:cNvSpPr txBox="1"/>
          <p:nvPr/>
        </p:nvSpPr>
        <p:spPr>
          <a:xfrm>
            <a:off x="331561" y="993150"/>
            <a:ext cx="5001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FFD500"/>
                </a:solidFill>
                <a:latin typeface="BBH Bartle"/>
                <a:ea typeface="BBH Bartle"/>
                <a:cs typeface="BBH Bartle"/>
                <a:sym typeface="BBH Bartle"/>
              </a:rPr>
              <a:t>01 </a:t>
            </a:r>
            <a:endParaRPr sz="1200" dirty="0">
              <a:solidFill>
                <a:srgbClr val="FFD500"/>
              </a:solidFill>
              <a:latin typeface="BBH Bartle"/>
              <a:ea typeface="BBH Bartle"/>
              <a:cs typeface="BBH Bartle"/>
              <a:sym typeface="BBH Bartle"/>
            </a:endParaRPr>
          </a:p>
        </p:txBody>
      </p:sp>
      <p:sp>
        <p:nvSpPr>
          <p:cNvPr id="27" name="Google Shape;232;p33">
            <a:extLst>
              <a:ext uri="{FF2B5EF4-FFF2-40B4-BE49-F238E27FC236}">
                <a16:creationId xmlns:a16="http://schemas.microsoft.com/office/drawing/2014/main" id="{46619217-7F8F-62D3-01AA-3735F371426D}"/>
              </a:ext>
            </a:extLst>
          </p:cNvPr>
          <p:cNvSpPr txBox="1"/>
          <p:nvPr/>
        </p:nvSpPr>
        <p:spPr>
          <a:xfrm>
            <a:off x="3355001" y="993150"/>
            <a:ext cx="5001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FFD500"/>
                </a:solidFill>
                <a:latin typeface="BBH Bartle"/>
                <a:ea typeface="BBH Bartle"/>
                <a:cs typeface="BBH Bartle"/>
                <a:sym typeface="BBH Bartle"/>
              </a:rPr>
              <a:t>02</a:t>
            </a:r>
            <a:endParaRPr sz="1200" dirty="0">
              <a:solidFill>
                <a:srgbClr val="FFD500"/>
              </a:solidFill>
              <a:latin typeface="BBH Bartle"/>
              <a:ea typeface="BBH Bartle"/>
              <a:cs typeface="BBH Bartle"/>
              <a:sym typeface="BBH Bartle"/>
            </a:endParaRPr>
          </a:p>
        </p:txBody>
      </p:sp>
      <p:sp>
        <p:nvSpPr>
          <p:cNvPr id="28" name="Google Shape;233;p33">
            <a:extLst>
              <a:ext uri="{FF2B5EF4-FFF2-40B4-BE49-F238E27FC236}">
                <a16:creationId xmlns:a16="http://schemas.microsoft.com/office/drawing/2014/main" id="{C2ADD9B1-52D0-7A40-D0AD-71AF78C1D62D}"/>
              </a:ext>
            </a:extLst>
          </p:cNvPr>
          <p:cNvSpPr txBox="1"/>
          <p:nvPr/>
        </p:nvSpPr>
        <p:spPr>
          <a:xfrm>
            <a:off x="6378441" y="993150"/>
            <a:ext cx="5001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D500"/>
                </a:solidFill>
                <a:latin typeface="BBH Bartle"/>
                <a:ea typeface="BBH Bartle"/>
                <a:cs typeface="BBH Bartle"/>
                <a:sym typeface="BBH Bartle"/>
              </a:rPr>
              <a:t>03</a:t>
            </a:r>
            <a:endParaRPr sz="1200">
              <a:solidFill>
                <a:srgbClr val="FFD500"/>
              </a:solidFill>
              <a:latin typeface="BBH Bartle"/>
              <a:ea typeface="BBH Bartle"/>
              <a:cs typeface="BBH Bartle"/>
              <a:sym typeface="BBH Bartle"/>
            </a:endParaRPr>
          </a:p>
        </p:txBody>
      </p:sp>
      <p:sp>
        <p:nvSpPr>
          <p:cNvPr id="29" name="Google Shape;234;p33">
            <a:extLst>
              <a:ext uri="{FF2B5EF4-FFF2-40B4-BE49-F238E27FC236}">
                <a16:creationId xmlns:a16="http://schemas.microsoft.com/office/drawing/2014/main" id="{ED6C9E27-885C-A8A0-318C-7CA7D08606CA}"/>
              </a:ext>
            </a:extLst>
          </p:cNvPr>
          <p:cNvSpPr txBox="1"/>
          <p:nvPr/>
        </p:nvSpPr>
        <p:spPr>
          <a:xfrm>
            <a:off x="331561" y="2987475"/>
            <a:ext cx="5001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D500"/>
                </a:solidFill>
                <a:latin typeface="BBH Bartle"/>
                <a:ea typeface="BBH Bartle"/>
                <a:cs typeface="BBH Bartle"/>
                <a:sym typeface="BBH Bartle"/>
              </a:rPr>
              <a:t>04</a:t>
            </a:r>
            <a:endParaRPr sz="1200">
              <a:solidFill>
                <a:srgbClr val="FFD500"/>
              </a:solidFill>
              <a:latin typeface="BBH Bartle"/>
              <a:ea typeface="BBH Bartle"/>
              <a:cs typeface="BBH Bartle"/>
              <a:sym typeface="BBH Bartle"/>
            </a:endParaRPr>
          </a:p>
        </p:txBody>
      </p:sp>
      <p:sp>
        <p:nvSpPr>
          <p:cNvPr id="30" name="Google Shape;235;p33">
            <a:extLst>
              <a:ext uri="{FF2B5EF4-FFF2-40B4-BE49-F238E27FC236}">
                <a16:creationId xmlns:a16="http://schemas.microsoft.com/office/drawing/2014/main" id="{FAF335E6-6F00-F4B5-EBA2-AC50B37E89E3}"/>
              </a:ext>
            </a:extLst>
          </p:cNvPr>
          <p:cNvSpPr txBox="1"/>
          <p:nvPr/>
        </p:nvSpPr>
        <p:spPr>
          <a:xfrm>
            <a:off x="3355001" y="2987475"/>
            <a:ext cx="5001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D500"/>
                </a:solidFill>
                <a:latin typeface="BBH Bartle"/>
                <a:ea typeface="BBH Bartle"/>
                <a:cs typeface="BBH Bartle"/>
                <a:sym typeface="BBH Bartle"/>
              </a:rPr>
              <a:t>05</a:t>
            </a:r>
            <a:endParaRPr sz="1200">
              <a:solidFill>
                <a:srgbClr val="FFD500"/>
              </a:solidFill>
              <a:latin typeface="BBH Bartle"/>
              <a:ea typeface="BBH Bartle"/>
              <a:cs typeface="BBH Bartle"/>
              <a:sym typeface="BBH Bartle"/>
            </a:endParaRPr>
          </a:p>
        </p:txBody>
      </p:sp>
      <p:sp>
        <p:nvSpPr>
          <p:cNvPr id="31" name="Google Shape;236;p33">
            <a:extLst>
              <a:ext uri="{FF2B5EF4-FFF2-40B4-BE49-F238E27FC236}">
                <a16:creationId xmlns:a16="http://schemas.microsoft.com/office/drawing/2014/main" id="{727ED86C-1A94-EA24-2FD5-0B28891A29E4}"/>
              </a:ext>
            </a:extLst>
          </p:cNvPr>
          <p:cNvSpPr txBox="1"/>
          <p:nvPr/>
        </p:nvSpPr>
        <p:spPr>
          <a:xfrm>
            <a:off x="6378441" y="2987475"/>
            <a:ext cx="5001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D500"/>
                </a:solidFill>
                <a:latin typeface="BBH Bartle"/>
                <a:ea typeface="BBH Bartle"/>
                <a:cs typeface="BBH Bartle"/>
                <a:sym typeface="BBH Bartle"/>
              </a:rPr>
              <a:t>06</a:t>
            </a:r>
            <a:endParaRPr sz="1200">
              <a:solidFill>
                <a:srgbClr val="FFD500"/>
              </a:solidFill>
              <a:latin typeface="BBH Bartle"/>
              <a:ea typeface="BBH Bartle"/>
              <a:cs typeface="BBH Bartle"/>
              <a:sym typeface="BBH Bartle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41150146-37EB-3117-0857-DAC5C09E3712}"/>
              </a:ext>
            </a:extLst>
          </p:cNvPr>
          <p:cNvSpPr txBox="1"/>
          <p:nvPr/>
        </p:nvSpPr>
        <p:spPr>
          <a:xfrm>
            <a:off x="785192" y="954624"/>
            <a:ext cx="7466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🏷️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12E19509-E1B4-DB16-1952-F5D3417DA882}"/>
              </a:ext>
            </a:extLst>
          </p:cNvPr>
          <p:cNvSpPr txBox="1"/>
          <p:nvPr/>
        </p:nvSpPr>
        <p:spPr>
          <a:xfrm>
            <a:off x="3823967" y="981514"/>
            <a:ext cx="7466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🏠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B06812F5-4A52-EB53-C62D-250E9036EBCF}"/>
              </a:ext>
            </a:extLst>
          </p:cNvPr>
          <p:cNvSpPr txBox="1"/>
          <p:nvPr/>
        </p:nvSpPr>
        <p:spPr>
          <a:xfrm>
            <a:off x="6862742" y="993149"/>
            <a:ext cx="7466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🔔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C367BE13-4FE3-1A9A-732C-22140B8289CC}"/>
              </a:ext>
            </a:extLst>
          </p:cNvPr>
          <p:cNvSpPr txBox="1"/>
          <p:nvPr/>
        </p:nvSpPr>
        <p:spPr>
          <a:xfrm>
            <a:off x="785192" y="2895962"/>
            <a:ext cx="7466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🪪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242A30E3-ED35-0316-8308-8107EF96F39A}"/>
              </a:ext>
            </a:extLst>
          </p:cNvPr>
          <p:cNvSpPr txBox="1"/>
          <p:nvPr/>
        </p:nvSpPr>
        <p:spPr>
          <a:xfrm>
            <a:off x="3823967" y="2996470"/>
            <a:ext cx="7466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800" dirty="0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72787DB4-6E2C-7E95-448B-A3D550B8E493}"/>
              </a:ext>
            </a:extLst>
          </p:cNvPr>
          <p:cNvSpPr txBox="1"/>
          <p:nvPr/>
        </p:nvSpPr>
        <p:spPr>
          <a:xfrm>
            <a:off x="6862742" y="2996470"/>
            <a:ext cx="7466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📱</a:t>
            </a:r>
          </a:p>
        </p:txBody>
      </p:sp>
    </p:spTree>
    <p:extLst>
      <p:ext uri="{BB962C8B-B14F-4D97-AF65-F5344CB8AC3E}">
        <p14:creationId xmlns:p14="http://schemas.microsoft.com/office/powerpoint/2010/main" val="731150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210">
          <a:extLst>
            <a:ext uri="{FF2B5EF4-FFF2-40B4-BE49-F238E27FC236}">
              <a16:creationId xmlns:a16="http://schemas.microsoft.com/office/drawing/2014/main" id="{B752DBFD-4B0B-0BEF-9590-395CBEDE5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2;p32">
            <a:extLst>
              <a:ext uri="{FF2B5EF4-FFF2-40B4-BE49-F238E27FC236}">
                <a16:creationId xmlns:a16="http://schemas.microsoft.com/office/drawing/2014/main" id="{3895F02A-5463-9B39-7F95-855432945C8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1042" y="457200"/>
            <a:ext cx="5074920" cy="39133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1: Quiz based Onboarding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8A49BA-DBE4-9116-EC55-C7BBDED53CD3}"/>
              </a:ext>
            </a:extLst>
          </p:cNvPr>
          <p:cNvSpPr txBox="1"/>
          <p:nvPr/>
        </p:nvSpPr>
        <p:spPr>
          <a:xfrm>
            <a:off x="386282" y="897294"/>
            <a:ext cx="360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4-step quiz wizard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B98F8A-40C7-3F68-01C8-07371901A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B39D8D54-468D-BED9-84A1-520FEEE64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927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FE07C36D-BA30-FAD1-A70F-B93B8DA6D0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71" b="16612"/>
          <a:stretch>
            <a:fillRect/>
          </a:stretch>
        </p:blipFill>
        <p:spPr bwMode="auto">
          <a:xfrm>
            <a:off x="221042" y="3633516"/>
            <a:ext cx="1823021" cy="83484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2104B3DD-BBB3-8223-3A3D-A77AF52DEC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17" b="19056"/>
          <a:stretch>
            <a:fillRect/>
          </a:stretch>
        </p:blipFill>
        <p:spPr bwMode="auto">
          <a:xfrm>
            <a:off x="221042" y="2798676"/>
            <a:ext cx="1823021" cy="8348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1">
            <a:extLst>
              <a:ext uri="{FF2B5EF4-FFF2-40B4-BE49-F238E27FC236}">
                <a16:creationId xmlns:a16="http://schemas.microsoft.com/office/drawing/2014/main" id="{66EA7EBD-BAC8-4234-2CE1-7D21F92C6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42" y="1413901"/>
            <a:ext cx="1803427" cy="138477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Picture 9">
            <a:extLst>
              <a:ext uri="{FF2B5EF4-FFF2-40B4-BE49-F238E27FC236}">
                <a16:creationId xmlns:a16="http://schemas.microsoft.com/office/drawing/2014/main" id="{D72B90DD-4212-D642-7892-CE1F39B5A1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95" r="10756"/>
          <a:stretch>
            <a:fillRect/>
          </a:stretch>
        </p:blipFill>
        <p:spPr bwMode="auto">
          <a:xfrm>
            <a:off x="2044062" y="1413901"/>
            <a:ext cx="2817267" cy="305445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456CD1C-C278-EB65-55F0-80213E8D33F0}"/>
              </a:ext>
            </a:extLst>
          </p:cNvPr>
          <p:cNvSpPr txBox="1"/>
          <p:nvPr/>
        </p:nvSpPr>
        <p:spPr>
          <a:xfrm>
            <a:off x="5844602" y="870070"/>
            <a:ext cx="309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Public profile creation</a:t>
            </a:r>
          </a:p>
          <a:p>
            <a:pPr marL="285750" lvl="0" indent="-285750" algn="just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Private profile creation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A40504-D47F-63FB-B92E-F55957F24032}"/>
              </a:ext>
            </a:extLst>
          </p:cNvPr>
          <p:cNvSpPr txBox="1"/>
          <p:nvPr/>
        </p:nvSpPr>
        <p:spPr>
          <a:xfrm>
            <a:off x="2458056" y="870070"/>
            <a:ext cx="33865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Profile photo upload</a:t>
            </a:r>
          </a:p>
          <a:p>
            <a:pPr marL="285750" lvl="0" indent="-285750" algn="just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Quiz gate before Discover access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2F247C8-BB00-93C7-A26C-D7C4E5197A85}"/>
              </a:ext>
            </a:extLst>
          </p:cNvPr>
          <p:cNvCxnSpPr>
            <a:cxnSpLocks/>
          </p:cNvCxnSpPr>
          <p:nvPr/>
        </p:nvCxnSpPr>
        <p:spPr>
          <a:xfrm>
            <a:off x="5224165" y="1320184"/>
            <a:ext cx="0" cy="3148172"/>
          </a:xfrm>
          <a:prstGeom prst="line">
            <a:avLst/>
          </a:prstGeom>
          <a:ln w="28575">
            <a:solidFill>
              <a:srgbClr val="F4E6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9" name="Picture 1">
            <a:extLst>
              <a:ext uri="{FF2B5EF4-FFF2-40B4-BE49-F238E27FC236}">
                <a16:creationId xmlns:a16="http://schemas.microsoft.com/office/drawing/2014/main" id="{657DFA8D-23F9-6942-5B81-85629A7D51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2642" y="1363454"/>
            <a:ext cx="3480953" cy="15704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6">
            <a:extLst>
              <a:ext uri="{FF2B5EF4-FFF2-40B4-BE49-F238E27FC236}">
                <a16:creationId xmlns:a16="http://schemas.microsoft.com/office/drawing/2014/main" id="{FE6ABD40-6F18-4864-58AA-0D1928DB9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2642" y="2933853"/>
            <a:ext cx="3480950" cy="157039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2">
            <a:extLst>
              <a:ext uri="{FF2B5EF4-FFF2-40B4-BE49-F238E27FC236}">
                <a16:creationId xmlns:a16="http://schemas.microsoft.com/office/drawing/2014/main" id="{AA1D7FC6-1DBA-FA9C-AAE4-4810B58A1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49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210">
          <a:extLst>
            <a:ext uri="{FF2B5EF4-FFF2-40B4-BE49-F238E27FC236}">
              <a16:creationId xmlns:a16="http://schemas.microsoft.com/office/drawing/2014/main" id="{90C8FB7D-3083-A25E-AD01-91B1E6DED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2;p32">
            <a:extLst>
              <a:ext uri="{FF2B5EF4-FFF2-40B4-BE49-F238E27FC236}">
                <a16:creationId xmlns:a16="http://schemas.microsoft.com/office/drawing/2014/main" id="{7A11AD4F-CC52-7930-95A5-AD082BBC23B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05929" y="598894"/>
            <a:ext cx="5074920" cy="39133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2: Compatibility Matching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D11630-522B-0DC6-798E-0FF57F886A8C}"/>
              </a:ext>
            </a:extLst>
          </p:cNvPr>
          <p:cNvSpPr txBox="1"/>
          <p:nvPr/>
        </p:nvSpPr>
        <p:spPr>
          <a:xfrm>
            <a:off x="205928" y="1036113"/>
            <a:ext cx="2432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Compatibility scores</a:t>
            </a:r>
          </a:p>
          <a:p>
            <a:pPr marL="285750" lvl="0" indent="-285750" algn="just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Ranked user pool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2F3D44-CD1B-9B8B-DF73-C66B5AE73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BA79076B-55F3-F18B-1363-5EB86C92A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927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3D236F-8DFF-BECC-C44B-80055937F4D1}"/>
              </a:ext>
            </a:extLst>
          </p:cNvPr>
          <p:cNvSpPr txBox="1"/>
          <p:nvPr/>
        </p:nvSpPr>
        <p:spPr>
          <a:xfrm>
            <a:off x="6061760" y="1011764"/>
            <a:ext cx="2432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Second Chance</a:t>
            </a:r>
          </a:p>
          <a:p>
            <a:pPr marL="285750" lvl="0" indent="-285750" algn="just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Sort and Filter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F00363-2521-A153-90E7-B1B640A010A9}"/>
              </a:ext>
            </a:extLst>
          </p:cNvPr>
          <p:cNvSpPr txBox="1"/>
          <p:nvPr/>
        </p:nvSpPr>
        <p:spPr>
          <a:xfrm>
            <a:off x="3333085" y="1011764"/>
            <a:ext cx="2432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Like/Pass interaction</a:t>
            </a:r>
          </a:p>
          <a:p>
            <a:pPr marL="285750" lvl="0" indent="-285750" algn="just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Mutual match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A98E870-30A7-9E8C-C8EF-EA020E01AAC4}"/>
              </a:ext>
            </a:extLst>
          </p:cNvPr>
          <p:cNvCxnSpPr>
            <a:cxnSpLocks/>
          </p:cNvCxnSpPr>
          <p:nvPr/>
        </p:nvCxnSpPr>
        <p:spPr>
          <a:xfrm>
            <a:off x="5914062" y="1534984"/>
            <a:ext cx="0" cy="3148172"/>
          </a:xfrm>
          <a:prstGeom prst="line">
            <a:avLst/>
          </a:prstGeom>
          <a:ln w="28575">
            <a:solidFill>
              <a:srgbClr val="F4E6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2">
            <a:extLst>
              <a:ext uri="{FF2B5EF4-FFF2-40B4-BE49-F238E27FC236}">
                <a16:creationId xmlns:a16="http://schemas.microsoft.com/office/drawing/2014/main" id="{13D0F4DF-B97E-EC96-6C4F-5A72DBE43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2AFDABD-7A4C-9525-2BD0-B3DA31B0B406}"/>
              </a:ext>
            </a:extLst>
          </p:cNvPr>
          <p:cNvCxnSpPr>
            <a:cxnSpLocks/>
          </p:cNvCxnSpPr>
          <p:nvPr/>
        </p:nvCxnSpPr>
        <p:spPr>
          <a:xfrm>
            <a:off x="3008948" y="1534984"/>
            <a:ext cx="0" cy="3148172"/>
          </a:xfrm>
          <a:prstGeom prst="line">
            <a:avLst/>
          </a:prstGeom>
          <a:ln w="28575">
            <a:solidFill>
              <a:srgbClr val="F4E6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5102566-3EDE-8C4E-C5A8-0B9C3C4F5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17" y="2840373"/>
            <a:ext cx="2561337" cy="11570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4FADBD-0F25-A543-F3F5-0C0CC70A75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61" y="1683290"/>
            <a:ext cx="2564393" cy="11570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69007F83-0DE8-961B-043E-51F48BE1B8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51" t="22010" r="22645" b="28529"/>
          <a:stretch>
            <a:fillRect/>
          </a:stretch>
        </p:blipFill>
        <p:spPr bwMode="auto">
          <a:xfrm>
            <a:off x="3570158" y="1683290"/>
            <a:ext cx="1958340" cy="75853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" name="Picture 1">
            <a:extLst>
              <a:ext uri="{FF2B5EF4-FFF2-40B4-BE49-F238E27FC236}">
                <a16:creationId xmlns:a16="http://schemas.microsoft.com/office/drawing/2014/main" id="{17811474-F062-8971-FAE7-D5B2D19D59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402"/>
          <a:stretch>
            <a:fillRect/>
          </a:stretch>
        </p:blipFill>
        <p:spPr bwMode="auto">
          <a:xfrm>
            <a:off x="3570158" y="2441825"/>
            <a:ext cx="1958340" cy="104639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35DAB0-111F-97CA-6650-4C5608CFE8A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5301" t="35727" r="27976" b="33087"/>
          <a:stretch>
            <a:fillRect/>
          </a:stretch>
        </p:blipFill>
        <p:spPr>
          <a:xfrm>
            <a:off x="3570158" y="3488224"/>
            <a:ext cx="1958340" cy="5898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3716E0-C49B-8841-94EF-E05A6F66153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16704"/>
          <a:stretch>
            <a:fillRect/>
          </a:stretch>
        </p:blipFill>
        <p:spPr>
          <a:xfrm>
            <a:off x="6260456" y="1620640"/>
            <a:ext cx="2558720" cy="13681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09FC0E-BABC-393D-098A-72CE8E7BCEC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2024" b="41163"/>
          <a:stretch>
            <a:fillRect/>
          </a:stretch>
        </p:blipFill>
        <p:spPr>
          <a:xfrm>
            <a:off x="7606473" y="2716751"/>
            <a:ext cx="1212703" cy="17912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81697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210">
          <a:extLst>
            <a:ext uri="{FF2B5EF4-FFF2-40B4-BE49-F238E27FC236}">
              <a16:creationId xmlns:a16="http://schemas.microsoft.com/office/drawing/2014/main" id="{5F27D7DB-623C-0B1C-91F9-648AB06D1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2;p32">
            <a:extLst>
              <a:ext uri="{FF2B5EF4-FFF2-40B4-BE49-F238E27FC236}">
                <a16:creationId xmlns:a16="http://schemas.microsoft.com/office/drawing/2014/main" id="{BFB1F4C1-B356-99E0-4FE2-2D1DBD762A6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4800" y="502919"/>
            <a:ext cx="7491843" cy="39133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3: Communication &amp; Accommodation Listing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B202A0-6174-B51D-B23C-F7F137B5554E}"/>
              </a:ext>
            </a:extLst>
          </p:cNvPr>
          <p:cNvSpPr txBox="1"/>
          <p:nvPr/>
        </p:nvSpPr>
        <p:spPr>
          <a:xfrm>
            <a:off x="304800" y="940138"/>
            <a:ext cx="27415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MATCH and LISTING inbox </a:t>
            </a:r>
          </a:p>
          <a:p>
            <a:pPr marL="285750" lvl="0" indent="-285750" algn="just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Match-based messaging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C11797-84D9-5039-C2E4-C54A74936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636C620-18BD-B1CB-51AA-530A05F95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927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3F0276-35ED-88A3-98D8-2E1E945B0CA3}"/>
              </a:ext>
            </a:extLst>
          </p:cNvPr>
          <p:cNvSpPr txBox="1"/>
          <p:nvPr/>
        </p:nvSpPr>
        <p:spPr>
          <a:xfrm>
            <a:off x="6401850" y="915789"/>
            <a:ext cx="170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Private profile sharing/hiding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0D758A-31E5-87F5-FE27-DEF327C90C99}"/>
              </a:ext>
            </a:extLst>
          </p:cNvPr>
          <p:cNvSpPr txBox="1"/>
          <p:nvPr/>
        </p:nvSpPr>
        <p:spPr>
          <a:xfrm>
            <a:off x="3194089" y="894255"/>
            <a:ext cx="26672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Listing enquiry messaging</a:t>
            </a:r>
          </a:p>
          <a:p>
            <a:pPr marL="285750" lvl="0" indent="-285750" algn="just">
              <a:buClr>
                <a:srgbClr val="F4E630"/>
              </a:buClr>
              <a:buSzPct val="200000"/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Listing dashboard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C6B7917-7F68-32A6-BD68-B3702B401277}"/>
              </a:ext>
            </a:extLst>
          </p:cNvPr>
          <p:cNvCxnSpPr>
            <a:cxnSpLocks/>
          </p:cNvCxnSpPr>
          <p:nvPr/>
        </p:nvCxnSpPr>
        <p:spPr>
          <a:xfrm>
            <a:off x="6012934" y="1439009"/>
            <a:ext cx="0" cy="3148172"/>
          </a:xfrm>
          <a:prstGeom prst="line">
            <a:avLst/>
          </a:prstGeom>
          <a:ln w="28575">
            <a:solidFill>
              <a:srgbClr val="F4E6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2">
            <a:extLst>
              <a:ext uri="{FF2B5EF4-FFF2-40B4-BE49-F238E27FC236}">
                <a16:creationId xmlns:a16="http://schemas.microsoft.com/office/drawing/2014/main" id="{4BD560B0-153D-E106-625C-E2C495A3C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7DBAAE5-B83F-AEB7-6430-AA5466E49FF6}"/>
              </a:ext>
            </a:extLst>
          </p:cNvPr>
          <p:cNvCxnSpPr>
            <a:cxnSpLocks/>
          </p:cNvCxnSpPr>
          <p:nvPr/>
        </p:nvCxnSpPr>
        <p:spPr>
          <a:xfrm>
            <a:off x="3107820" y="1439009"/>
            <a:ext cx="0" cy="3148172"/>
          </a:xfrm>
          <a:prstGeom prst="line">
            <a:avLst/>
          </a:prstGeom>
          <a:ln w="28575">
            <a:solidFill>
              <a:srgbClr val="F4E6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>
            <a:extLst>
              <a:ext uri="{FF2B5EF4-FFF2-40B4-BE49-F238E27FC236}">
                <a16:creationId xmlns:a16="http://schemas.microsoft.com/office/drawing/2014/main" id="{0265E616-D6CE-6DB1-CEE1-7026E6AB3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710" y="1609174"/>
            <a:ext cx="2486891" cy="11299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" name="Picture 1">
            <a:extLst>
              <a:ext uri="{FF2B5EF4-FFF2-40B4-BE49-F238E27FC236}">
                <a16:creationId xmlns:a16="http://schemas.microsoft.com/office/drawing/2014/main" id="{3C36C27A-0F42-7797-92AF-A7B879563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710" y="2739074"/>
            <a:ext cx="2486891" cy="112167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F63D541-9FD8-518A-D61C-C4AC79E140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6507" y="2776266"/>
            <a:ext cx="2666031" cy="12042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101" name="Picture 5">
            <a:extLst>
              <a:ext uri="{FF2B5EF4-FFF2-40B4-BE49-F238E27FC236}">
                <a16:creationId xmlns:a16="http://schemas.microsoft.com/office/drawing/2014/main" id="{2E6E5E1E-0191-880D-CD4A-D7A056546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508" y="1571982"/>
            <a:ext cx="2654824" cy="120428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AFEB36DA-FA84-E295-8729-F7F7CFC33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E0F63FD-4D72-A7E2-F0C1-E7C9E3A395D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3399" t="32825" r="33623" b="34738"/>
          <a:stretch>
            <a:fillRect/>
          </a:stretch>
        </p:blipFill>
        <p:spPr>
          <a:xfrm>
            <a:off x="6401853" y="1609175"/>
            <a:ext cx="2080592" cy="9254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0788AE5A-FFE3-5A1B-105C-4DF40814BB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31" t="31920" r="33919" b="30962"/>
          <a:stretch>
            <a:fillRect/>
          </a:stretch>
        </p:blipFill>
        <p:spPr bwMode="auto">
          <a:xfrm>
            <a:off x="6401852" y="2534619"/>
            <a:ext cx="2080591" cy="106152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3" name="Picture 1">
            <a:extLst>
              <a:ext uri="{FF2B5EF4-FFF2-40B4-BE49-F238E27FC236}">
                <a16:creationId xmlns:a16="http://schemas.microsoft.com/office/drawing/2014/main" id="{28BC66DF-6C63-8A82-4DE2-8DC3A93034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57" t="31490" r="30688" b="30930"/>
          <a:stretch>
            <a:fillRect/>
          </a:stretch>
        </p:blipFill>
        <p:spPr bwMode="auto">
          <a:xfrm>
            <a:off x="6412505" y="3596143"/>
            <a:ext cx="2069938" cy="92544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9">
            <a:extLst>
              <a:ext uri="{FF2B5EF4-FFF2-40B4-BE49-F238E27FC236}">
                <a16:creationId xmlns:a16="http://schemas.microsoft.com/office/drawing/2014/main" id="{28BE85CE-1E47-7CD4-BE14-C87A44377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602085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605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70;p36">
            <a:extLst>
              <a:ext uri="{FF2B5EF4-FFF2-40B4-BE49-F238E27FC236}">
                <a16:creationId xmlns:a16="http://schemas.microsoft.com/office/drawing/2014/main" id="{20810D48-9914-8A47-44B1-BD665D09E373}"/>
              </a:ext>
            </a:extLst>
          </p:cNvPr>
          <p:cNvSpPr txBox="1">
            <a:spLocks/>
          </p:cNvSpPr>
          <p:nvPr/>
        </p:nvSpPr>
        <p:spPr>
          <a:xfrm>
            <a:off x="1537854" y="1537854"/>
            <a:ext cx="6068291" cy="2343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BH Bartle"/>
              <a:buNone/>
              <a:defRPr sz="2000" b="0" i="0" u="none" strike="noStrike" cap="none">
                <a:solidFill>
                  <a:schemeClr val="dk1"/>
                </a:solidFill>
                <a:latin typeface="BBH Bartle"/>
                <a:ea typeface="BBH Bartle"/>
                <a:cs typeface="BBH Bartle"/>
                <a:sym typeface="BBH Bart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BH Bartle"/>
              <a:buNone/>
              <a:defRPr sz="2000" b="0" i="0" u="none" strike="noStrike" cap="none">
                <a:solidFill>
                  <a:schemeClr val="dk1"/>
                </a:solidFill>
                <a:latin typeface="BBH Bartle"/>
                <a:ea typeface="BBH Bartle"/>
                <a:cs typeface="BBH Bartle"/>
                <a:sym typeface="BBH Bart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BH Bartle"/>
              <a:buNone/>
              <a:defRPr sz="2000" b="0" i="0" u="none" strike="noStrike" cap="none">
                <a:solidFill>
                  <a:schemeClr val="dk1"/>
                </a:solidFill>
                <a:latin typeface="BBH Bartle"/>
                <a:ea typeface="BBH Bartle"/>
                <a:cs typeface="BBH Bartle"/>
                <a:sym typeface="BBH Bart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BH Bartle"/>
              <a:buNone/>
              <a:defRPr sz="2000" b="0" i="0" u="none" strike="noStrike" cap="none">
                <a:solidFill>
                  <a:schemeClr val="dk1"/>
                </a:solidFill>
                <a:latin typeface="BBH Bartle"/>
                <a:ea typeface="BBH Bartle"/>
                <a:cs typeface="BBH Bartle"/>
                <a:sym typeface="BBH Bart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BH Bartle"/>
              <a:buNone/>
              <a:defRPr sz="2000" b="0" i="0" u="none" strike="noStrike" cap="none">
                <a:solidFill>
                  <a:schemeClr val="dk1"/>
                </a:solidFill>
                <a:latin typeface="BBH Bartle"/>
                <a:ea typeface="BBH Bartle"/>
                <a:cs typeface="BBH Bartle"/>
                <a:sym typeface="BBH Bart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BH Bartle"/>
              <a:buNone/>
              <a:defRPr sz="2000" b="0" i="0" u="none" strike="noStrike" cap="none">
                <a:solidFill>
                  <a:schemeClr val="dk1"/>
                </a:solidFill>
                <a:latin typeface="BBH Bartle"/>
                <a:ea typeface="BBH Bartle"/>
                <a:cs typeface="BBH Bartle"/>
                <a:sym typeface="BBH Bart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BH Bartle"/>
              <a:buNone/>
              <a:defRPr sz="2000" b="0" i="0" u="none" strike="noStrike" cap="none">
                <a:solidFill>
                  <a:schemeClr val="dk1"/>
                </a:solidFill>
                <a:latin typeface="BBH Bartle"/>
                <a:ea typeface="BBH Bartle"/>
                <a:cs typeface="BBH Bartle"/>
                <a:sym typeface="BBH Bart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BH Bartle"/>
              <a:buNone/>
              <a:defRPr sz="2000" b="0" i="0" u="none" strike="noStrike" cap="none">
                <a:solidFill>
                  <a:schemeClr val="dk1"/>
                </a:solidFill>
                <a:latin typeface="BBH Bartle"/>
                <a:ea typeface="BBH Bartle"/>
                <a:cs typeface="BBH Bartle"/>
                <a:sym typeface="BBH Bart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BH Bartle"/>
              <a:buNone/>
              <a:defRPr sz="2000" b="0" i="0" u="none" strike="noStrike" cap="none">
                <a:solidFill>
                  <a:schemeClr val="dk1"/>
                </a:solidFill>
                <a:latin typeface="BBH Bartle"/>
                <a:ea typeface="BBH Bartle"/>
                <a:cs typeface="BBH Bartle"/>
                <a:sym typeface="BBH Bartle"/>
              </a:defRPr>
            </a:lvl9pPr>
          </a:lstStyle>
          <a:p>
            <a:pPr algn="ctr"/>
            <a:r>
              <a:rPr lang="en-US" sz="6000" dirty="0"/>
              <a:t>Thank </a:t>
            </a:r>
            <a:r>
              <a:rPr lang="en-US" sz="6000" dirty="0">
                <a:solidFill>
                  <a:srgbClr val="F4E630"/>
                </a:solidFill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3226344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210">
          <a:extLst>
            <a:ext uri="{FF2B5EF4-FFF2-40B4-BE49-F238E27FC236}">
              <a16:creationId xmlns:a16="http://schemas.microsoft.com/office/drawing/2014/main" id="{B8850699-D43C-3819-F3EB-A9CEF6735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9A71F00-F8C6-45AA-FAA2-A92C47464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F2509821-6940-A2DA-8A49-BEEBA613D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927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DB3D1B41-B7E6-F827-1EDD-7649D5B24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9F3CC9AB-6302-A3DA-7F06-CA17ECB8D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3AEC54DC-1631-BC91-F425-414592EAA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602085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BFEA48-9396-8623-FABF-0B253A1B7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50" y="152400"/>
            <a:ext cx="9093450" cy="4783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098509"/>
      </p:ext>
    </p:extLst>
  </p:cSld>
  <p:clrMapOvr>
    <a:masterClrMapping/>
  </p:clrMapOvr>
</p:sld>
</file>

<file path=ppt/theme/theme1.xml><?xml version="1.0" encoding="utf-8"?>
<a:theme xmlns:a="http://schemas.openxmlformats.org/drawingml/2006/main" name="Modern Business Proposal by Slidesgo">
  <a:themeElements>
    <a:clrScheme name="Simple Light">
      <a:dk1>
        <a:srgbClr val="0E0E0E"/>
      </a:dk1>
      <a:lt1>
        <a:srgbClr val="DEDEDE"/>
      </a:lt1>
      <a:dk2>
        <a:srgbClr val="0E0E0E"/>
      </a:dk2>
      <a:lt2>
        <a:srgbClr val="BFC9CA"/>
      </a:lt2>
      <a:accent1>
        <a:srgbClr val="9E0E0E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4063</TotalTime>
  <Words>685</Words>
  <Application>Microsoft Office PowerPoint</Application>
  <PresentationFormat>On-screen Show (16:9)</PresentationFormat>
  <Paragraphs>193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8" baseType="lpstr">
      <vt:lpstr>Space Mono</vt:lpstr>
      <vt:lpstr>Arial</vt:lpstr>
      <vt:lpstr>PT Sans</vt:lpstr>
      <vt:lpstr>Wingdings</vt:lpstr>
      <vt:lpstr>BBH Bartle</vt:lpstr>
      <vt:lpstr>Nunito Light</vt:lpstr>
      <vt:lpstr>Arial Black</vt:lpstr>
      <vt:lpstr>Segoe UI</vt:lpstr>
      <vt:lpstr>Raleway</vt:lpstr>
      <vt:lpstr>Courier New</vt:lpstr>
      <vt:lpstr>Calibri</vt:lpstr>
      <vt:lpstr>Modern Business Proposal by Slidesgo</vt:lpstr>
      <vt:lpstr>WANTED AI – Powered Roommate &amp; Accomodation Finder</vt:lpstr>
      <vt:lpstr>1. Project Introduction</vt:lpstr>
      <vt:lpstr>2. Background &amp; Problem</vt:lpstr>
      <vt:lpstr>2. Background &amp; Problem</vt:lpstr>
      <vt:lpstr>3. Proposed Solution</vt:lpstr>
      <vt:lpstr>4. Surveys</vt:lpstr>
      <vt:lpstr>5. System Architecture</vt:lpstr>
      <vt:lpstr>6. Product Features</vt:lpstr>
      <vt:lpstr>7. Testing</vt:lpstr>
      <vt:lpstr>8. Evaluation</vt:lpstr>
      <vt:lpstr>8. Testing &amp;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Fabian</dc:creator>
  <cp:lastModifiedBy>Pyae sone Aung (U2566896)</cp:lastModifiedBy>
  <cp:revision>18</cp:revision>
  <dcterms:modified xsi:type="dcterms:W3CDTF">2026-09-02T02:13:31Z</dcterms:modified>
</cp:coreProperties>
</file>